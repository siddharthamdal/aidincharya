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x="18288000" cy="10287000"/>
  <p:notesSz cx="6858000" cy="9144000"/>
  <p:embeddedFontLst>
    <p:embeddedFont>
      <p:font typeface="Helvetica World" charset="1" panose="020B0500040000020004"/>
      <p:regular r:id="rId34"/>
    </p:embeddedFont>
    <p:embeddedFont>
      <p:font typeface="Helvetica World Bold Italics" charset="1" panose="020B0800040000090004"/>
      <p:regular r:id="rId35"/>
    </p:embeddedFont>
    <p:embeddedFont>
      <p:font typeface="Helvetica World Bold" charset="1" panose="020B0800040000020004"/>
      <p:regular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embeddings/oleObject1.bin" Type="http://schemas.openxmlformats.org/officeDocument/2006/relationships/oleObject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embeddings/oleObject2.bin" Type="http://schemas.openxmlformats.org/officeDocument/2006/relationships/oleObject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3D3A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H="true" flipV="true">
            <a:off x="11561359" y="-340517"/>
            <a:ext cx="0" cy="11121442"/>
          </a:xfrm>
          <a:prstGeom prst="line">
            <a:avLst/>
          </a:prstGeom>
          <a:ln cap="flat" w="38100">
            <a:solidFill>
              <a:srgbClr val="FFFFFF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H="true" flipV="true">
            <a:off x="9144000" y="-340517"/>
            <a:ext cx="19050" cy="10742855"/>
          </a:xfrm>
          <a:prstGeom prst="line">
            <a:avLst/>
          </a:prstGeom>
          <a:ln cap="flat" w="38100">
            <a:solidFill>
              <a:srgbClr val="FFFFFF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714065" y="391647"/>
            <a:ext cx="15452244" cy="5392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539"/>
              </a:lnSpc>
            </a:pPr>
            <a:r>
              <a:rPr lang="en-US" sz="6999" spc="-125">
                <a:solidFill>
                  <a:srgbClr val="C4E98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Dinacharya Automation Using LL</a:t>
            </a:r>
            <a:r>
              <a:rPr lang="en-US" sz="6999" spc="-125" strike="noStrike" u="none">
                <a:solidFill>
                  <a:srgbClr val="C4E98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</a:t>
            </a:r>
            <a:r>
              <a:rPr lang="en-US" sz="6999" spc="-125" strike="noStrike" u="none">
                <a:solidFill>
                  <a:srgbClr val="C4E98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-bas</a:t>
            </a:r>
            <a:r>
              <a:rPr lang="en-US" sz="6999" spc="-125" strike="noStrike" u="none">
                <a:solidFill>
                  <a:srgbClr val="C4E98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ed</a:t>
            </a:r>
            <a:r>
              <a:rPr lang="en-US" sz="6999" spc="-125" strike="noStrike" u="none">
                <a:solidFill>
                  <a:srgbClr val="C4E98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Autonomous Agents: A</a:t>
            </a:r>
          </a:p>
          <a:p>
            <a:pPr algn="l" marL="0" indent="0" lvl="0">
              <a:lnSpc>
                <a:spcPts val="8539"/>
              </a:lnSpc>
            </a:pPr>
            <a:r>
              <a:rPr lang="en-US" sz="6999" spc="-125" strike="noStrike" u="none">
                <a:solidFill>
                  <a:srgbClr val="C4E98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Dosha-aware Mult</a:t>
            </a:r>
            <a:r>
              <a:rPr lang="en-US" sz="6999" spc="-125" strike="noStrike" u="none">
                <a:solidFill>
                  <a:srgbClr val="C4E98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</a:t>
            </a:r>
            <a:r>
              <a:rPr lang="en-US" sz="6999" spc="-125" strike="noStrike" u="none">
                <a:solidFill>
                  <a:srgbClr val="C4E98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mod</a:t>
            </a:r>
            <a:r>
              <a:rPr lang="en-US" sz="6999" spc="-125" strike="noStrike" u="none">
                <a:solidFill>
                  <a:srgbClr val="C4E98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al</a:t>
            </a:r>
            <a:r>
              <a:rPr lang="en-US" sz="6999" spc="-125" strike="noStrike" u="none">
                <a:solidFill>
                  <a:srgbClr val="C4E98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6999" spc="-125" strike="noStrike" u="none">
                <a:solidFill>
                  <a:srgbClr val="C4E98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Pe</a:t>
            </a:r>
            <a:r>
              <a:rPr lang="en-US" sz="6999" spc="-125" strike="noStrike" u="none">
                <a:solidFill>
                  <a:srgbClr val="C4E98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</a:t>
            </a:r>
            <a:r>
              <a:rPr lang="en-US" sz="6999" spc="-125" strike="noStrike" u="none">
                <a:solidFill>
                  <a:srgbClr val="C4E98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</a:t>
            </a:r>
            <a:r>
              <a:rPr lang="en-US" sz="6999" spc="-125" strike="noStrike" u="none">
                <a:solidFill>
                  <a:srgbClr val="C4E98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</a:t>
            </a:r>
            <a:r>
              <a:rPr lang="en-US" sz="6999" spc="-125" strike="noStrike" u="none">
                <a:solidFill>
                  <a:srgbClr val="C4E98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</a:t>
            </a:r>
            <a:r>
              <a:rPr lang="en-US" sz="6999" spc="-125" strike="noStrike" u="none">
                <a:solidFill>
                  <a:srgbClr val="C4E98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aliz</a:t>
            </a:r>
            <a:r>
              <a:rPr lang="en-US" sz="6999" spc="-125" strike="noStrike" u="none">
                <a:solidFill>
                  <a:srgbClr val="C4E98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ation</a:t>
            </a:r>
            <a:r>
              <a:rPr lang="en-US" sz="6999" spc="-125" strike="noStrike" u="none">
                <a:solidFill>
                  <a:srgbClr val="C4E98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Framework</a:t>
            </a:r>
          </a:p>
          <a:p>
            <a:pPr algn="l" marL="0" indent="0" lvl="0">
              <a:lnSpc>
                <a:spcPts val="8539"/>
              </a:lnSpc>
            </a:pPr>
          </a:p>
        </p:txBody>
      </p:sp>
      <p:sp>
        <p:nvSpPr>
          <p:cNvPr name="AutoShape 5" id="5"/>
          <p:cNvSpPr/>
          <p:nvPr/>
        </p:nvSpPr>
        <p:spPr>
          <a:xfrm flipV="true">
            <a:off x="15586290" y="-340517"/>
            <a:ext cx="0" cy="10968034"/>
          </a:xfrm>
          <a:prstGeom prst="line">
            <a:avLst/>
          </a:prstGeom>
          <a:ln cap="flat" w="38100">
            <a:solidFill>
              <a:srgbClr val="FFFFFF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714065" y="7088986"/>
            <a:ext cx="1928531" cy="274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30"/>
              </a:lnSpc>
              <a:spcBef>
                <a:spcPct val="0"/>
              </a:spcBef>
            </a:pPr>
            <a:r>
              <a:rPr lang="en-US" b="true" sz="1966" i="true" spc="-35" strike="noStrike" u="none">
                <a:solidFill>
                  <a:srgbClr val="FFFFFF"/>
                </a:solidFill>
                <a:latin typeface="Helvetica World Bold Italics"/>
                <a:ea typeface="Helvetica World Bold Italics"/>
                <a:cs typeface="Helvetica World Bold Italics"/>
                <a:sym typeface="Helvetica World Bold Italics"/>
              </a:rPr>
              <a:t>Presented by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14065" y="7543711"/>
            <a:ext cx="4210383" cy="1324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7"/>
              </a:lnSpc>
            </a:pPr>
            <a:r>
              <a:rPr lang="en-US" sz="1940" spc="-34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 V Kirrthanaa : 1BM24IS418</a:t>
            </a:r>
          </a:p>
          <a:p>
            <a:pPr algn="l">
              <a:lnSpc>
                <a:spcPts val="2697"/>
              </a:lnSpc>
            </a:pPr>
            <a:r>
              <a:rPr lang="en-US" sz="1940" spc="-34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Siddharth Amdal: 1BM23IS243</a:t>
            </a:r>
          </a:p>
          <a:p>
            <a:pPr algn="l">
              <a:lnSpc>
                <a:spcPts val="2697"/>
              </a:lnSpc>
            </a:pPr>
            <a:r>
              <a:rPr lang="en-US" sz="1940" spc="-34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Swapnil Patidar: 1BM23IS261</a:t>
            </a:r>
          </a:p>
          <a:p>
            <a:pPr algn="l" marL="0" indent="0" lvl="0">
              <a:lnSpc>
                <a:spcPts val="2697"/>
              </a:lnSpc>
            </a:pPr>
            <a:r>
              <a:rPr lang="en-US" sz="1940" spc="-34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Shreyansh Kumar Singh: 1BM23IS237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14065" y="5076825"/>
            <a:ext cx="14381186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spc="-54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Ancient Science of AI-Driven Personalized Daily Health Recommendations Based on Ayurvedic PrinciplesHealing.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3632891" y="7363090"/>
            <a:ext cx="5426216" cy="5298037"/>
            <a:chOff x="0" y="0"/>
            <a:chExt cx="1499136" cy="146372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99136" cy="1463724"/>
            </a:xfrm>
            <a:custGeom>
              <a:avLst/>
              <a:gdLst/>
              <a:ahLst/>
              <a:cxnLst/>
              <a:rect r="r" b="b" t="t" l="l"/>
              <a:pathLst>
                <a:path h="1463724" w="1499136">
                  <a:moveTo>
                    <a:pt x="0" y="0"/>
                  </a:moveTo>
                  <a:lnTo>
                    <a:pt x="1499136" y="0"/>
                  </a:lnTo>
                  <a:lnTo>
                    <a:pt x="1499136" y="1463724"/>
                  </a:lnTo>
                  <a:lnTo>
                    <a:pt x="0" y="1463724"/>
                  </a:lnTo>
                  <a:close/>
                </a:path>
              </a:pathLst>
            </a:custGeom>
            <a:solidFill>
              <a:srgbClr val="C4E989">
                <a:alpha val="68627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66675"/>
              <a:ext cx="1499136" cy="13970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2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741287" y="6219470"/>
            <a:ext cx="5426216" cy="5298037"/>
            <a:chOff x="0" y="0"/>
            <a:chExt cx="1499136" cy="146372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99136" cy="1463724"/>
            </a:xfrm>
            <a:custGeom>
              <a:avLst/>
              <a:gdLst/>
              <a:ahLst/>
              <a:cxnLst/>
              <a:rect r="r" b="b" t="t" l="l"/>
              <a:pathLst>
                <a:path h="1463724" w="1499136">
                  <a:moveTo>
                    <a:pt x="0" y="0"/>
                  </a:moveTo>
                  <a:lnTo>
                    <a:pt x="1499136" y="0"/>
                  </a:lnTo>
                  <a:lnTo>
                    <a:pt x="1499136" y="1463724"/>
                  </a:lnTo>
                  <a:lnTo>
                    <a:pt x="0" y="1463724"/>
                  </a:lnTo>
                  <a:close/>
                </a:path>
              </a:pathLst>
            </a:custGeom>
            <a:solidFill>
              <a:srgbClr val="F1F6EF">
                <a:alpha val="55686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66675"/>
              <a:ext cx="1499136" cy="13970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2"/>
                </a:lnSpc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1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H="true" flipV="true">
            <a:off x="11561359" y="-340517"/>
            <a:ext cx="0" cy="11121442"/>
          </a:xfrm>
          <a:prstGeom prst="line">
            <a:avLst/>
          </a:prstGeom>
          <a:ln cap="flat" w="38100">
            <a:solidFill>
              <a:srgbClr val="000000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H="true" flipV="true">
            <a:off x="9144000" y="-128502"/>
            <a:ext cx="19050" cy="10530840"/>
          </a:xfrm>
          <a:prstGeom prst="line">
            <a:avLst/>
          </a:prstGeom>
          <a:ln cap="flat" w="38100">
            <a:solidFill>
              <a:srgbClr val="000000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V="true">
            <a:off x="15586290" y="-340517"/>
            <a:ext cx="0" cy="10968034"/>
          </a:xfrm>
          <a:prstGeom prst="line">
            <a:avLst/>
          </a:prstGeom>
          <a:ln cap="flat" w="38100">
            <a:solidFill>
              <a:srgbClr val="000000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5410947" y="769896"/>
            <a:ext cx="2247079" cy="258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892"/>
              </a:lnSpc>
              <a:spcBef>
                <a:spcPct val="0"/>
              </a:spcBef>
            </a:pPr>
            <a:r>
              <a:rPr lang="en-US" sz="2150" spc="-3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01</a:t>
            </a:r>
          </a:p>
        </p:txBody>
      </p:sp>
      <p:sp>
        <p:nvSpPr>
          <p:cNvPr name="AutoShape 6" id="6"/>
          <p:cNvSpPr/>
          <p:nvPr/>
        </p:nvSpPr>
        <p:spPr>
          <a:xfrm flipH="true" flipV="true">
            <a:off x="1645919" y="-128537"/>
            <a:ext cx="19050" cy="10530840"/>
          </a:xfrm>
          <a:prstGeom prst="line">
            <a:avLst/>
          </a:prstGeom>
          <a:ln cap="flat" w="38100">
            <a:solidFill>
              <a:srgbClr val="000000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028700" y="695960"/>
            <a:ext cx="14361228" cy="964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159"/>
              </a:lnSpc>
            </a:pPr>
            <a:r>
              <a:rPr lang="en-US" b="true" sz="6999" spc="-125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</a:t>
            </a:r>
            <a:r>
              <a:rPr lang="en-US" b="true" sz="6999" spc="-125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TRODU</a:t>
            </a:r>
            <a:r>
              <a:rPr lang="en-US" b="true" sz="6999" spc="-125" strike="noStrike" u="non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</a:t>
            </a:r>
            <a:r>
              <a:rPr lang="en-US" b="true" sz="6999" spc="-125" strike="noStrike" u="non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1936105"/>
            <a:ext cx="15179767" cy="6717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60"/>
              </a:lnSpc>
            </a:pPr>
          </a:p>
          <a:p>
            <a:pPr algn="just">
              <a:lnSpc>
                <a:spcPts val="3360"/>
              </a:lnSpc>
            </a:pP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Ayurv</a:t>
            </a: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eda emphasizes preventive and personalized health management through lifestyle regulation.</a:t>
            </a:r>
          </a:p>
          <a:p>
            <a:pPr algn="just">
              <a:lnSpc>
                <a:spcPts val="3360"/>
              </a:lnSpc>
            </a:pPr>
          </a:p>
          <a:p>
            <a:pPr algn="just" marL="0" indent="0" lvl="0">
              <a:lnSpc>
                <a:spcPts val="3360"/>
              </a:lnSpc>
            </a:pP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The concept of Dinacharya (daily routine) recommends habits based </a:t>
            </a: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on an indi</a:t>
            </a:r>
            <a:r>
              <a:rPr lang="en-US" sz="3000" spc="-54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vidual's Prakriti (body constitution).</a:t>
            </a:r>
          </a:p>
          <a:p>
            <a:pPr algn="just" marL="0" indent="0" lvl="0">
              <a:lnSpc>
                <a:spcPts val="3360"/>
              </a:lnSpc>
            </a:pPr>
          </a:p>
          <a:p>
            <a:pPr algn="just" marL="0" indent="0" lvl="0">
              <a:lnSpc>
                <a:spcPts val="3360"/>
              </a:lnSpc>
            </a:pPr>
            <a:r>
              <a:rPr lang="en-US" sz="3000" spc="-54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Tradition</a:t>
            </a:r>
            <a:r>
              <a:rPr lang="en-US" sz="3000" spc="-54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al ass</a:t>
            </a:r>
            <a:r>
              <a:rPr lang="en-US" sz="3000" spc="-54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essments are manual and static, making personalized lifestyle guidance difficult t</a:t>
            </a:r>
            <a:r>
              <a:rPr lang="en-US" sz="3000" spc="-54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</a:t>
            </a:r>
            <a:r>
              <a:rPr lang="en-US" sz="3000" spc="-54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3000" spc="-54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</a:t>
            </a:r>
            <a:r>
              <a:rPr lang="en-US" sz="3000" spc="-54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</a:t>
            </a:r>
            <a:r>
              <a:rPr lang="en-US" sz="3000" spc="-54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al</a:t>
            </a:r>
            <a:r>
              <a:rPr lang="en-US" sz="3000" spc="-54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e.</a:t>
            </a:r>
          </a:p>
          <a:p>
            <a:pPr algn="just" marL="0" indent="0" lvl="0">
              <a:lnSpc>
                <a:spcPts val="3360"/>
              </a:lnSpc>
            </a:pPr>
          </a:p>
          <a:p>
            <a:pPr algn="just" marL="0" indent="0" lvl="0">
              <a:lnSpc>
                <a:spcPts val="3360"/>
              </a:lnSpc>
            </a:pPr>
            <a:r>
              <a:rPr lang="en-US" sz="3000" spc="-54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</a:t>
            </a:r>
            <a:r>
              <a:rPr lang="en-US" sz="3000" spc="-54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A</a:t>
            </a:r>
            <a:r>
              <a:rPr lang="en-US" sz="3000" spc="-54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dvances in AI,</a:t>
            </a:r>
            <a:r>
              <a:rPr lang="en-US" sz="3000" spc="-54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we</a:t>
            </a:r>
            <a:r>
              <a:rPr lang="en-US" sz="3000" spc="-54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arab</a:t>
            </a:r>
            <a:r>
              <a:rPr lang="en-US" sz="3000" spc="-54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</a:t>
            </a:r>
            <a:r>
              <a:rPr lang="en-US" sz="3000" spc="-54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 se</a:t>
            </a:r>
            <a:r>
              <a:rPr lang="en-US" sz="3000" spc="-54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</a:t>
            </a:r>
            <a:r>
              <a:rPr lang="en-US" sz="3000" spc="-54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</a:t>
            </a:r>
            <a:r>
              <a:rPr lang="en-US" sz="3000" spc="-54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</a:t>
            </a:r>
            <a:r>
              <a:rPr lang="en-US" sz="3000" spc="-54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rs, a</a:t>
            </a:r>
            <a:r>
              <a:rPr lang="en-US" sz="3000" spc="-54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</a:t>
            </a:r>
            <a:r>
              <a:rPr lang="en-US" sz="3000" spc="-54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</a:t>
            </a:r>
            <a:r>
              <a:rPr lang="en-US" sz="3000" spc="-54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health </a:t>
            </a:r>
            <a:r>
              <a:rPr lang="en-US" sz="3000" spc="-54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</a:t>
            </a:r>
            <a:r>
              <a:rPr lang="en-US" sz="3000" spc="-54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</a:t>
            </a:r>
            <a:r>
              <a:rPr lang="en-US" sz="3000" spc="-54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ta</a:t>
            </a:r>
            <a:r>
              <a:rPr lang="en-US" sz="3000" spc="-54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3000" spc="-54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anal</a:t>
            </a:r>
            <a:r>
              <a:rPr lang="en-US" sz="3000" spc="-54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ys</a:t>
            </a:r>
            <a:r>
              <a:rPr lang="en-US" sz="3000" spc="-54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is</a:t>
            </a:r>
            <a:r>
              <a:rPr lang="en-US" sz="3000" spc="-54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3000" spc="-54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</a:t>
            </a:r>
            <a:r>
              <a:rPr lang="en-US" sz="3000" spc="-54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</a:t>
            </a:r>
            <a:r>
              <a:rPr lang="en-US" sz="3000" spc="-54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able c</a:t>
            </a:r>
            <a:r>
              <a:rPr lang="en-US" sz="3000" spc="-54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</a:t>
            </a:r>
            <a:r>
              <a:rPr lang="en-US" sz="3000" spc="-54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</a:t>
            </a:r>
            <a:r>
              <a:rPr lang="en-US" sz="3000" spc="-54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</a:t>
            </a:r>
            <a:r>
              <a:rPr lang="en-US" sz="3000" spc="-54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inuous</a:t>
            </a:r>
            <a:r>
              <a:rPr lang="en-US" sz="3000" spc="-54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3000" spc="-54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</a:t>
            </a:r>
            <a:r>
              <a:rPr lang="en-US" sz="3000" spc="-54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oni</a:t>
            </a:r>
            <a:r>
              <a:rPr lang="en-US" sz="3000" spc="-54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to</a:t>
            </a:r>
            <a:r>
              <a:rPr lang="en-US" sz="3000" spc="-54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</a:t>
            </a:r>
            <a:r>
              <a:rPr lang="en-US" sz="3000" spc="-54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ing </a:t>
            </a:r>
            <a:r>
              <a:rPr lang="en-US" sz="3000" spc="-54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</a:t>
            </a:r>
            <a:r>
              <a:rPr lang="en-US" sz="3000" spc="-54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</a:t>
            </a:r>
            <a:r>
              <a:rPr lang="en-US" sz="3000" spc="-54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individual </a:t>
            </a:r>
            <a:r>
              <a:rPr lang="en-US" sz="3000" spc="-54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he</a:t>
            </a:r>
            <a:r>
              <a:rPr lang="en-US" sz="3000" spc="-54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alth </a:t>
            </a:r>
            <a:r>
              <a:rPr lang="en-US" sz="3000" spc="-54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patterns.</a:t>
            </a:r>
          </a:p>
          <a:p>
            <a:pPr algn="just" marL="0" indent="0" lvl="0">
              <a:lnSpc>
                <a:spcPts val="3360"/>
              </a:lnSpc>
            </a:pPr>
          </a:p>
          <a:p>
            <a:pPr algn="just" marL="0" indent="0" lvl="0">
              <a:lnSpc>
                <a:spcPts val="3360"/>
              </a:lnSpc>
            </a:pPr>
            <a:r>
              <a:rPr lang="en-US" sz="3000" spc="-54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</a:t>
            </a:r>
            <a:r>
              <a:rPr lang="en-US" sz="3000" spc="-54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3000" spc="-54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</a:t>
            </a:r>
            <a:r>
              <a:rPr lang="en-US" sz="3000" spc="-54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</a:t>
            </a:r>
            <a:r>
              <a:rPr lang="en-US" sz="3000" spc="-54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</a:t>
            </a:r>
            <a:r>
              <a:rPr lang="en-US" sz="3000" spc="-54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3000" spc="-54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</a:t>
            </a:r>
            <a:r>
              <a:rPr lang="en-US" sz="3000" spc="-54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</a:t>
            </a:r>
            <a:r>
              <a:rPr lang="en-US" sz="3000" spc="-54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je</a:t>
            </a:r>
            <a:r>
              <a:rPr lang="en-US" sz="3000" spc="-54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ct</a:t>
            </a:r>
            <a:r>
              <a:rPr lang="en-US" sz="3000" spc="-54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p</a:t>
            </a:r>
            <a:r>
              <a:rPr lang="en-US" sz="3000" spc="-54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</a:t>
            </a:r>
            <a:r>
              <a:rPr lang="en-US" sz="3000" spc="-54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opos</a:t>
            </a:r>
            <a:r>
              <a:rPr lang="en-US" sz="3000" spc="-54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es </a:t>
            </a:r>
            <a:r>
              <a:rPr lang="en-US" sz="3000" spc="-54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an</a:t>
            </a:r>
            <a:r>
              <a:rPr lang="en-US" sz="3000" spc="-54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3000" spc="-54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LLM-bas</a:t>
            </a:r>
            <a:r>
              <a:rPr lang="en-US" sz="3000" spc="-54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</a:t>
            </a:r>
            <a:r>
              <a:rPr lang="en-US" sz="3000" spc="-54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 aut</a:t>
            </a:r>
            <a:r>
              <a:rPr lang="en-US" sz="3000" spc="-54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onom</a:t>
            </a:r>
            <a:r>
              <a:rPr lang="en-US" sz="3000" spc="-54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ous</a:t>
            </a:r>
            <a:r>
              <a:rPr lang="en-US" sz="3000" spc="-54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a</a:t>
            </a:r>
            <a:r>
              <a:rPr lang="en-US" sz="3000" spc="-54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ge</a:t>
            </a:r>
            <a:r>
              <a:rPr lang="en-US" sz="3000" spc="-54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</a:t>
            </a:r>
            <a:r>
              <a:rPr lang="en-US" sz="3000" spc="-54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</a:t>
            </a:r>
            <a:r>
              <a:rPr lang="en-US" sz="3000" spc="-54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3000" spc="-54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</a:t>
            </a:r>
            <a:r>
              <a:rPr lang="en-US" sz="3000" spc="-54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</a:t>
            </a:r>
            <a:r>
              <a:rPr lang="en-US" sz="3000" spc="-54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</a:t>
            </a:r>
            <a:r>
              <a:rPr lang="en-US" sz="3000" spc="-54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3000" spc="-54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</a:t>
            </a:r>
            <a:r>
              <a:rPr lang="en-US" sz="3000" spc="-54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</a:t>
            </a:r>
            <a:r>
              <a:rPr lang="en-US" sz="3000" spc="-54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egr</a:t>
            </a:r>
            <a:r>
              <a:rPr lang="en-US" sz="3000" spc="-54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at</a:t>
            </a:r>
            <a:r>
              <a:rPr lang="en-US" sz="3000" spc="-54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es</a:t>
            </a:r>
            <a:r>
              <a:rPr lang="en-US" sz="3000" spc="-54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A</a:t>
            </a:r>
            <a:r>
              <a:rPr lang="en-US" sz="3000" spc="-54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yurvedi</a:t>
            </a:r>
            <a:r>
              <a:rPr lang="en-US" sz="3000" spc="-54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</a:t>
            </a:r>
            <a:r>
              <a:rPr lang="en-US" sz="3000" spc="-54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knowl</a:t>
            </a:r>
            <a:r>
              <a:rPr lang="en-US" sz="3000" spc="-54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</a:t>
            </a:r>
            <a:r>
              <a:rPr lang="en-US" sz="3000" spc="-54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dge</a:t>
            </a:r>
            <a:r>
              <a:rPr lang="en-US" sz="3000" spc="-54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3000" spc="-54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wi</a:t>
            </a:r>
            <a:r>
              <a:rPr lang="en-US" sz="3000" spc="-54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</a:t>
            </a:r>
            <a:r>
              <a:rPr lang="en-US" sz="3000" spc="-54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</a:t>
            </a:r>
            <a:r>
              <a:rPr lang="en-US" sz="3000" spc="-54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3000" spc="-54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mul</a:t>
            </a:r>
            <a:r>
              <a:rPr lang="en-US" sz="3000" spc="-54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tim</a:t>
            </a:r>
            <a:r>
              <a:rPr lang="en-US" sz="3000" spc="-54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oda</a:t>
            </a:r>
            <a:r>
              <a:rPr lang="en-US" sz="3000" spc="-54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 </a:t>
            </a:r>
            <a:r>
              <a:rPr lang="en-US" sz="3000" spc="-54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he</a:t>
            </a:r>
            <a:r>
              <a:rPr lang="en-US" sz="3000" spc="-54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</a:t>
            </a:r>
            <a:r>
              <a:rPr lang="en-US" sz="3000" spc="-54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lth</a:t>
            </a:r>
            <a:r>
              <a:rPr lang="en-US" sz="3000" spc="-54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3000" spc="-54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</a:t>
            </a:r>
            <a:r>
              <a:rPr lang="en-US" sz="3000" spc="-54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</a:t>
            </a:r>
            <a:r>
              <a:rPr lang="en-US" sz="3000" spc="-54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ta t</a:t>
            </a:r>
            <a:r>
              <a:rPr lang="en-US" sz="3000" spc="-54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</a:t>
            </a:r>
            <a:r>
              <a:rPr lang="en-US" sz="3000" spc="-54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gene</a:t>
            </a:r>
            <a:r>
              <a:rPr lang="en-US" sz="3000" spc="-54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rate a</a:t>
            </a:r>
            <a:r>
              <a:rPr lang="en-US" sz="3000" spc="-54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daptiv</a:t>
            </a:r>
            <a:r>
              <a:rPr lang="en-US" sz="3000" spc="-54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 </a:t>
            </a:r>
            <a:r>
              <a:rPr lang="en-US" sz="3000" spc="-54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</a:t>
            </a:r>
            <a:r>
              <a:rPr lang="en-US" sz="3000" spc="-54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</a:t>
            </a:r>
            <a:r>
              <a:rPr lang="en-US" sz="3000" spc="-54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</a:t>
            </a:r>
            <a:r>
              <a:rPr lang="en-US" sz="3000" spc="-54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ach</a:t>
            </a:r>
            <a:r>
              <a:rPr lang="en-US" sz="3000" spc="-54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ary</a:t>
            </a:r>
            <a:r>
              <a:rPr lang="en-US" sz="3000" spc="-54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 r</a:t>
            </a:r>
            <a:r>
              <a:rPr lang="en-US" sz="3000" spc="-54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ecommenda</a:t>
            </a:r>
            <a:r>
              <a:rPr lang="en-US" sz="3000" spc="-54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</a:t>
            </a:r>
            <a:r>
              <a:rPr lang="en-US" sz="3000" spc="-54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ions</a:t>
            </a:r>
            <a:r>
              <a:rPr lang="en-US" sz="3000" spc="-54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.</a:t>
            </a:r>
          </a:p>
          <a:p>
            <a:pPr algn="just" marL="0" indent="0" lvl="0">
              <a:lnSpc>
                <a:spcPts val="3360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CEC4B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H="true" flipV="true">
            <a:off x="11561359" y="-340517"/>
            <a:ext cx="0" cy="11121442"/>
          </a:xfrm>
          <a:prstGeom prst="line">
            <a:avLst/>
          </a:prstGeom>
          <a:ln cap="flat" w="38100">
            <a:solidFill>
              <a:srgbClr val="000000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H="true" flipV="true">
            <a:off x="9144000" y="-629475"/>
            <a:ext cx="19050" cy="10530840"/>
          </a:xfrm>
          <a:prstGeom prst="line">
            <a:avLst/>
          </a:prstGeom>
          <a:ln cap="flat" w="38100">
            <a:solidFill>
              <a:srgbClr val="000000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V="true">
            <a:off x="15586290" y="-340517"/>
            <a:ext cx="0" cy="10968034"/>
          </a:xfrm>
          <a:prstGeom prst="line">
            <a:avLst/>
          </a:prstGeom>
          <a:ln cap="flat" w="38100">
            <a:solidFill>
              <a:srgbClr val="000000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626075" y="770148"/>
            <a:ext cx="7388291" cy="1199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655"/>
              </a:lnSpc>
            </a:pPr>
            <a:r>
              <a:rPr lang="en-US" b="true" sz="8699" spc="-156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MOTIVATIONS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410947" y="769896"/>
            <a:ext cx="2247079" cy="258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892"/>
              </a:lnSpc>
              <a:spcBef>
                <a:spcPct val="0"/>
              </a:spcBef>
            </a:pPr>
            <a:r>
              <a:rPr lang="en-US" sz="2150" spc="-3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02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63228" y="2407989"/>
            <a:ext cx="11958168" cy="667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9558" indent="-384779" lvl="1">
              <a:lnSpc>
                <a:spcPts val="4990"/>
              </a:lnSpc>
              <a:buFont typeface="Arial"/>
              <a:buChar char="•"/>
            </a:pPr>
            <a:r>
              <a:rPr lang="en-US" b="true" sz="3564" spc="-64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The</a:t>
            </a:r>
            <a:r>
              <a:rPr lang="en-US" b="true" sz="3564" spc="-64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Ad</a:t>
            </a:r>
            <a:r>
              <a:rPr lang="en-US" b="true" sz="3564" spc="-64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</a:t>
            </a:r>
            <a:r>
              <a:rPr lang="en-US" b="true" sz="3564" spc="-64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</a:t>
            </a:r>
            <a:r>
              <a:rPr lang="en-US" b="true" sz="3564" spc="-64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</a:t>
            </a:r>
            <a:r>
              <a:rPr lang="en-US" b="true" sz="3564" spc="-64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</a:t>
            </a:r>
            <a:r>
              <a:rPr lang="en-US" b="true" sz="3564" spc="-64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n</a:t>
            </a:r>
            <a:r>
              <a:rPr lang="en-US" b="true" sz="3564" spc="-64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ce </a:t>
            </a:r>
            <a:r>
              <a:rPr lang="en-US" b="true" sz="3564" spc="-64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Cr</a:t>
            </a:r>
            <a:r>
              <a:rPr lang="en-US" b="true" sz="3564" spc="-64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</a:t>
            </a:r>
            <a:r>
              <a:rPr lang="en-US" b="true" sz="3564" spc="-64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</a:t>
            </a:r>
            <a:r>
              <a:rPr lang="en-US" b="true" sz="3564" spc="-64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is in </a:t>
            </a:r>
            <a:r>
              <a:rPr lang="en-US" b="true" sz="3564" spc="-64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</a:t>
            </a:r>
            <a:r>
              <a:rPr lang="en-US" b="true" sz="3564" spc="-64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reventi</a:t>
            </a:r>
            <a:r>
              <a:rPr lang="en-US" b="true" sz="3564" spc="-64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v</a:t>
            </a:r>
            <a:r>
              <a:rPr lang="en-US" b="true" sz="3564" spc="-64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 Hea</a:t>
            </a:r>
            <a:r>
              <a:rPr lang="en-US" b="true" sz="3564" spc="-64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l</a:t>
            </a:r>
            <a:r>
              <a:rPr lang="en-US" b="true" sz="3564" spc="-64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</a:t>
            </a:r>
            <a:r>
              <a:rPr lang="en-US" b="true" sz="3564" spc="-64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63228" y="3434670"/>
            <a:ext cx="11958168" cy="667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9558" indent="-384779" lvl="1">
              <a:lnSpc>
                <a:spcPts val="4990"/>
              </a:lnSpc>
              <a:buFont typeface="Arial"/>
              <a:buChar char="•"/>
            </a:pPr>
            <a:r>
              <a:rPr lang="en-US" b="true" sz="3564" spc="-64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The</a:t>
            </a:r>
            <a:r>
              <a:rPr lang="en-US" b="true" sz="3564" spc="-64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Di</a:t>
            </a:r>
            <a:r>
              <a:rPr lang="en-US" b="true" sz="3564" spc="-64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g</a:t>
            </a:r>
            <a:r>
              <a:rPr lang="en-US" b="true" sz="3564" spc="-64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</a:t>
            </a:r>
            <a:r>
              <a:rPr lang="en-US" b="true" sz="3564" spc="-64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</a:t>
            </a:r>
            <a:r>
              <a:rPr lang="en-US" b="true" sz="3564" spc="-64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al Healt</a:t>
            </a:r>
            <a:r>
              <a:rPr lang="en-US" b="true" sz="3564" spc="-64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 P</a:t>
            </a:r>
            <a:r>
              <a:rPr lang="en-US" b="true" sz="3564" spc="-64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ersonal</a:t>
            </a:r>
            <a:r>
              <a:rPr lang="en-US" b="true" sz="3564" spc="-64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iz</a:t>
            </a:r>
            <a:r>
              <a:rPr lang="en-US" b="true" sz="3564" spc="-64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ation Ga</a:t>
            </a:r>
            <a:r>
              <a:rPr lang="en-US" b="true" sz="3564" spc="-64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63228" y="4607149"/>
            <a:ext cx="11958168" cy="1349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9558" indent="-384779" lvl="1">
              <a:lnSpc>
                <a:spcPts val="4990"/>
              </a:lnSpc>
              <a:buFont typeface="Arial"/>
              <a:buChar char="•"/>
            </a:pPr>
            <a:r>
              <a:rPr lang="en-US" b="true" sz="3564" spc="-64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LLM and Agentic AI Have Just Reached Sufficient Maturity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63228" y="6461030"/>
            <a:ext cx="14037701" cy="1349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9558" indent="-384779" lvl="1">
              <a:lnSpc>
                <a:spcPts val="4990"/>
              </a:lnSpc>
              <a:buFont typeface="Arial"/>
              <a:buChar char="•"/>
            </a:pPr>
            <a:r>
              <a:rPr lang="en-US" b="true" sz="3564" spc="-64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Safety</a:t>
            </a:r>
            <a:r>
              <a:rPr lang="en-US" b="true" sz="3564" spc="-64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and Halluci</a:t>
            </a:r>
            <a:r>
              <a:rPr lang="en-US" b="true" sz="3564" spc="-64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n</a:t>
            </a:r>
            <a:r>
              <a:rPr lang="en-US" b="true" sz="3564" spc="-64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ation Risks Demand a Grounded Architecture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63228" y="8315498"/>
            <a:ext cx="11958168" cy="667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9558" indent="-384779" lvl="1">
              <a:lnSpc>
                <a:spcPts val="4990"/>
              </a:lnSpc>
              <a:buFont typeface="Arial"/>
              <a:buChar char="•"/>
            </a:pPr>
            <a:r>
              <a:rPr lang="en-US" b="true" sz="3564" spc="-64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Prevent</a:t>
            </a:r>
            <a:r>
              <a:rPr lang="en-US" b="true" sz="3564" spc="-64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ive Health </a:t>
            </a:r>
            <a:r>
              <a:rPr lang="en-US" b="true" sz="3564" spc="-64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Ha</a:t>
            </a:r>
            <a:r>
              <a:rPr lang="en-US" b="true" sz="3564" spc="-64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 Massi</a:t>
            </a:r>
            <a:r>
              <a:rPr lang="en-US" b="true" sz="3564" spc="-64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ve Sc</a:t>
            </a:r>
            <a:r>
              <a:rPr lang="en-US" b="true" sz="3564" spc="-64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ale Potential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3D3A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H="true" flipV="true">
            <a:off x="11561359" y="-340517"/>
            <a:ext cx="0" cy="11121442"/>
          </a:xfrm>
          <a:prstGeom prst="line">
            <a:avLst/>
          </a:prstGeom>
          <a:ln cap="flat" w="38100">
            <a:solidFill>
              <a:srgbClr val="FFFFFF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H="true" flipV="true">
            <a:off x="9144000" y="-340517"/>
            <a:ext cx="19050" cy="10742855"/>
          </a:xfrm>
          <a:prstGeom prst="line">
            <a:avLst/>
          </a:prstGeom>
          <a:ln cap="flat" w="38100">
            <a:solidFill>
              <a:srgbClr val="FFFFFF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V="true">
            <a:off x="15586290" y="-340517"/>
            <a:ext cx="0" cy="10968034"/>
          </a:xfrm>
          <a:prstGeom prst="line">
            <a:avLst/>
          </a:prstGeom>
          <a:ln cap="flat" w="38100">
            <a:solidFill>
              <a:srgbClr val="FFFFFF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612409" y="3036702"/>
            <a:ext cx="16293456" cy="5474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20"/>
              </a:lnSpc>
            </a:pPr>
            <a:r>
              <a:rPr lang="en-US" sz="3500" spc="-63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Current digital health and wellness apps rely mainly on basic tracking and rule-based recommendations.</a:t>
            </a:r>
          </a:p>
          <a:p>
            <a:pPr algn="just">
              <a:lnSpc>
                <a:spcPts val="3920"/>
              </a:lnSpc>
            </a:pPr>
          </a:p>
          <a:p>
            <a:pPr algn="just">
              <a:lnSpc>
                <a:spcPts val="3920"/>
              </a:lnSpc>
            </a:pPr>
            <a:r>
              <a:rPr lang="en-US" sz="3500" spc="-63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Users manually input health data such as diet, exercise, weight, and symptoms.</a:t>
            </a:r>
          </a:p>
          <a:p>
            <a:pPr algn="just">
              <a:lnSpc>
                <a:spcPts val="3920"/>
              </a:lnSpc>
            </a:pPr>
          </a:p>
          <a:p>
            <a:pPr algn="just" marL="0" indent="0" lvl="0">
              <a:lnSpc>
                <a:spcPts val="3920"/>
              </a:lnSpc>
            </a:pPr>
            <a:r>
              <a:rPr lang="en-US" sz="3500" spc="-63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Wearables coll</a:t>
            </a:r>
            <a:r>
              <a:rPr lang="en-US" sz="3500" spc="-63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ect simple metrics like steps, sleep, and heart rate.</a:t>
            </a:r>
          </a:p>
          <a:p>
            <a:pPr algn="just" marL="0" indent="0" lvl="0">
              <a:lnSpc>
                <a:spcPts val="3920"/>
              </a:lnSpc>
            </a:pPr>
          </a:p>
          <a:p>
            <a:pPr algn="just" marL="0" indent="0" lvl="0">
              <a:lnSpc>
                <a:spcPts val="3920"/>
              </a:lnSpc>
            </a:pPr>
            <a:r>
              <a:rPr lang="en-US" sz="3500" spc="-63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The apps provide predefined health advice or gene</a:t>
            </a:r>
            <a:r>
              <a:rPr lang="en-US" sz="3500" spc="-63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ric</a:t>
            </a:r>
            <a:r>
              <a:rPr lang="en-US" sz="3500" spc="-63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3500" spc="-63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</a:t>
            </a:r>
            <a:r>
              <a:rPr lang="en-US" sz="3500" spc="-63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</a:t>
            </a:r>
            <a:r>
              <a:rPr lang="en-US" sz="3500" spc="-63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</a:t>
            </a:r>
            <a:r>
              <a:rPr lang="en-US" sz="3500" spc="-63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estyle recommendations based on this data.</a:t>
            </a:r>
          </a:p>
          <a:p>
            <a:pPr algn="just" marL="0" indent="0" lvl="0">
              <a:lnSpc>
                <a:spcPts val="3920"/>
              </a:lnSpc>
            </a:pPr>
          </a:p>
          <a:p>
            <a:pPr algn="just" marL="0" indent="0" lvl="0">
              <a:lnSpc>
                <a:spcPts val="3920"/>
              </a:lnSpc>
            </a:pPr>
            <a:r>
              <a:rPr lang="en-US" sz="3500" spc="-63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Some</a:t>
            </a:r>
            <a:r>
              <a:rPr lang="en-US" sz="3500" spc="-63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apps co</a:t>
            </a:r>
            <a:r>
              <a:rPr lang="en-US" sz="3500" spc="-63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</a:t>
            </a:r>
            <a:r>
              <a:rPr lang="en-US" sz="3500" spc="-63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nec</a:t>
            </a:r>
            <a:r>
              <a:rPr lang="en-US" sz="3500" spc="-63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</a:t>
            </a:r>
            <a:r>
              <a:rPr lang="en-US" sz="3500" spc="-63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u</a:t>
            </a:r>
            <a:r>
              <a:rPr lang="en-US" sz="3500" spc="-63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sers with coach</a:t>
            </a:r>
            <a:r>
              <a:rPr lang="en-US" sz="3500" spc="-63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</a:t>
            </a:r>
            <a:r>
              <a:rPr lang="en-US" sz="3500" spc="-63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 or</a:t>
            </a:r>
            <a:r>
              <a:rPr lang="en-US" sz="3500" spc="-63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do</a:t>
            </a:r>
            <a:r>
              <a:rPr lang="en-US" sz="3500" spc="-63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ctors for manual guidance.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410947" y="769896"/>
            <a:ext cx="2247079" cy="258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892"/>
              </a:lnSpc>
              <a:spcBef>
                <a:spcPct val="0"/>
              </a:spcBef>
            </a:pPr>
            <a:r>
              <a:rPr lang="en-US" sz="2150" spc="-3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05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-562969" y="339545"/>
            <a:ext cx="11999025" cy="1186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000"/>
              </a:lnSpc>
            </a:pPr>
            <a:r>
              <a:rPr lang="en-US" b="true" sz="8000" spc="-144">
                <a:solidFill>
                  <a:srgbClr val="C4E98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EXISTING SYSTEMS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12409" y="1682103"/>
            <a:ext cx="7174339" cy="669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b="true" sz="3500" spc="-63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Methodology of Existing Systems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CEC4B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H="true" flipV="true">
            <a:off x="11561359" y="-340517"/>
            <a:ext cx="0" cy="11121442"/>
          </a:xfrm>
          <a:prstGeom prst="line">
            <a:avLst/>
          </a:prstGeom>
          <a:ln cap="flat" w="38100">
            <a:solidFill>
              <a:srgbClr val="000000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H="true" flipV="true">
            <a:off x="9144000" y="-128502"/>
            <a:ext cx="19050" cy="10530840"/>
          </a:xfrm>
          <a:prstGeom prst="line">
            <a:avLst/>
          </a:prstGeom>
          <a:ln cap="flat" w="38100">
            <a:solidFill>
              <a:srgbClr val="000000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V="true">
            <a:off x="15586290" y="-340517"/>
            <a:ext cx="0" cy="10968034"/>
          </a:xfrm>
          <a:prstGeom prst="line">
            <a:avLst/>
          </a:prstGeom>
          <a:ln cap="flat" w="38100">
            <a:solidFill>
              <a:srgbClr val="000000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-1205199" y="646430"/>
            <a:ext cx="14357661" cy="964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159"/>
              </a:lnSpc>
            </a:pPr>
            <a:r>
              <a:rPr lang="en-US" b="true" sz="6999" spc="-125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</a:t>
            </a:r>
            <a:r>
              <a:rPr lang="en-US" b="true" sz="6999" spc="-125" strike="noStrike" u="non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erits of Existing Systems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410947" y="769896"/>
            <a:ext cx="2247079" cy="258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892"/>
              </a:lnSpc>
              <a:spcBef>
                <a:spcPct val="0"/>
              </a:spcBef>
            </a:pPr>
            <a:r>
              <a:rPr lang="en-US" sz="2150" spc="-3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08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88434" y="1993265"/>
            <a:ext cx="16046053" cy="7265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40"/>
              </a:lnSpc>
              <a:spcBef>
                <a:spcPct val="0"/>
              </a:spcBef>
            </a:pPr>
            <a:r>
              <a:rPr lang="en-US" sz="4600" spc="-82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4600" spc="-82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</a:t>
            </a:r>
            <a:r>
              <a:rPr lang="en-US" sz="4600" spc="-82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Easy access to basic health monitoring tools.</a:t>
            </a:r>
          </a:p>
          <a:p>
            <a:pPr algn="l">
              <a:lnSpc>
                <a:spcPts val="6440"/>
              </a:lnSpc>
              <a:spcBef>
                <a:spcPct val="0"/>
              </a:spcBef>
            </a:pPr>
          </a:p>
          <a:p>
            <a:pPr algn="l">
              <a:lnSpc>
                <a:spcPts val="6440"/>
              </a:lnSpc>
              <a:spcBef>
                <a:spcPct val="0"/>
              </a:spcBef>
            </a:pPr>
            <a:r>
              <a:rPr lang="en-US" sz="4600" spc="-82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• Integration with wearable devices for activity and sleep tracking.</a:t>
            </a:r>
          </a:p>
          <a:p>
            <a:pPr algn="l">
              <a:lnSpc>
                <a:spcPts val="6440"/>
              </a:lnSpc>
              <a:spcBef>
                <a:spcPct val="0"/>
              </a:spcBef>
            </a:pPr>
          </a:p>
          <a:p>
            <a:pPr algn="l">
              <a:lnSpc>
                <a:spcPts val="6440"/>
              </a:lnSpc>
              <a:spcBef>
                <a:spcPct val="0"/>
              </a:spcBef>
            </a:pPr>
            <a:r>
              <a:rPr lang="en-US" sz="4600" spc="-82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• Provide fitness goals, calorie tracking, and lifestyle suggestions.</a:t>
            </a:r>
          </a:p>
          <a:p>
            <a:pPr algn="l">
              <a:lnSpc>
                <a:spcPts val="6440"/>
              </a:lnSpc>
              <a:spcBef>
                <a:spcPct val="0"/>
              </a:spcBef>
            </a:pPr>
            <a:r>
              <a:rPr lang="en-US" sz="4600" spc="-82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</a:p>
          <a:p>
            <a:pPr algn="l">
              <a:lnSpc>
                <a:spcPts val="6440"/>
              </a:lnSpc>
              <a:spcBef>
                <a:spcPct val="0"/>
              </a:spcBef>
            </a:pPr>
            <a:r>
              <a:rPr lang="en-US" sz="4600" spc="-82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• Help increase user awareness of health behaviors.</a:t>
            </a:r>
          </a:p>
          <a:p>
            <a:pPr algn="l">
              <a:lnSpc>
                <a:spcPts val="6440"/>
              </a:lnSpc>
              <a:spcBef>
                <a:spcPct val="0"/>
              </a:spcBef>
            </a:pPr>
          </a:p>
          <a:p>
            <a:pPr algn="l">
              <a:lnSpc>
                <a:spcPts val="6440"/>
              </a:lnSpc>
              <a:spcBef>
                <a:spcPct val="0"/>
              </a:spcBef>
            </a:pPr>
            <a:r>
              <a:rPr lang="en-US" sz="4600" spc="-82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• Some platforms also offer coaching and telehealth services. 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3D3A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H="true" flipV="true">
            <a:off x="11561359" y="-340517"/>
            <a:ext cx="0" cy="11121442"/>
          </a:xfrm>
          <a:prstGeom prst="line">
            <a:avLst/>
          </a:prstGeom>
          <a:ln cap="flat" w="38100">
            <a:solidFill>
              <a:srgbClr val="FFFFFF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H="true" flipV="true">
            <a:off x="9144000" y="-128502"/>
            <a:ext cx="19050" cy="10530840"/>
          </a:xfrm>
          <a:prstGeom prst="line">
            <a:avLst/>
          </a:prstGeom>
          <a:ln cap="flat" w="38100">
            <a:solidFill>
              <a:srgbClr val="FFFFFF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V="true">
            <a:off x="15586290" y="-340517"/>
            <a:ext cx="0" cy="10968034"/>
          </a:xfrm>
          <a:prstGeom prst="line">
            <a:avLst/>
          </a:prstGeom>
          <a:ln cap="flat" w="38100">
            <a:solidFill>
              <a:srgbClr val="FFFFFF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flipH="true" flipV="true">
            <a:off x="1645919" y="-128537"/>
            <a:ext cx="19050" cy="10530840"/>
          </a:xfrm>
          <a:prstGeom prst="line">
            <a:avLst/>
          </a:prstGeom>
          <a:ln cap="flat" w="38100">
            <a:solidFill>
              <a:srgbClr val="FFFFFF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76982" y="351240"/>
            <a:ext cx="14361228" cy="848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56"/>
              </a:lnSpc>
            </a:pPr>
            <a:r>
              <a:rPr lang="en-US" b="true" sz="6200" spc="-111" strike="noStrike" u="none">
                <a:solidFill>
                  <a:srgbClr val="C4E98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Demerits of Existing Systems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31863" y="1572706"/>
            <a:ext cx="17224273" cy="8004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20"/>
              </a:lnSpc>
            </a:pPr>
            <a:r>
              <a:rPr lang="en-US" sz="3500" spc="-63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</a:t>
            </a:r>
            <a:r>
              <a:rPr lang="en-US" b="true" sz="3500" spc="-63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Static recommendations </a:t>
            </a:r>
            <a:r>
              <a:rPr lang="en-US" sz="3500" spc="-63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— most apps provide fixed lifestyle advice that does not dynamically adapt daily to changing health signals.</a:t>
            </a:r>
          </a:p>
          <a:p>
            <a:pPr algn="just">
              <a:lnSpc>
                <a:spcPts val="3920"/>
              </a:lnSpc>
            </a:pPr>
          </a:p>
          <a:p>
            <a:pPr algn="just">
              <a:lnSpc>
                <a:spcPts val="3920"/>
              </a:lnSpc>
            </a:pPr>
            <a:r>
              <a:rPr lang="en-US" sz="3500" spc="-63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Limited personalization because recommendations are usually based on simple rules or historical user data rather than real-time analysis.</a:t>
            </a:r>
          </a:p>
          <a:p>
            <a:pPr algn="just">
              <a:lnSpc>
                <a:spcPts val="3920"/>
              </a:lnSpc>
            </a:pPr>
          </a:p>
          <a:p>
            <a:pPr algn="just" marL="0" indent="0" lvl="0">
              <a:lnSpc>
                <a:spcPts val="3920"/>
              </a:lnSpc>
            </a:pPr>
            <a:r>
              <a:rPr lang="en-US" sz="3500" spc="-63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Lack of integration of mult</a:t>
            </a:r>
            <a:r>
              <a:rPr lang="en-US" sz="3500" spc="-63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iple health modalities such as physiological signals, contextual data, and behavioral patterns.</a:t>
            </a:r>
          </a:p>
          <a:p>
            <a:pPr algn="just" marL="0" indent="0" lvl="0">
              <a:lnSpc>
                <a:spcPts val="3920"/>
              </a:lnSpc>
            </a:pPr>
          </a:p>
          <a:p>
            <a:pPr algn="just" marL="0" indent="0" lvl="0">
              <a:lnSpc>
                <a:spcPts val="3920"/>
              </a:lnSpc>
            </a:pPr>
            <a:r>
              <a:rPr lang="en-US" sz="3500" spc="-63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Many apps lack clinical validation, making t</a:t>
            </a:r>
            <a:r>
              <a:rPr lang="en-US" sz="3500" spc="-63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</a:t>
            </a:r>
            <a:r>
              <a:rPr lang="en-US" sz="3500" spc="-63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eir re</a:t>
            </a:r>
            <a:r>
              <a:rPr lang="en-US" sz="3500" spc="-63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com</a:t>
            </a:r>
            <a:r>
              <a:rPr lang="en-US" sz="3500" spc="-63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men</a:t>
            </a:r>
            <a:r>
              <a:rPr lang="en-US" sz="3500" spc="-63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da</a:t>
            </a:r>
            <a:r>
              <a:rPr lang="en-US" sz="3500" spc="-63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</a:t>
            </a:r>
            <a:r>
              <a:rPr lang="en-US" sz="3500" spc="-63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ion</a:t>
            </a:r>
            <a:r>
              <a:rPr lang="en-US" sz="3500" spc="-63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 less r</a:t>
            </a:r>
            <a:r>
              <a:rPr lang="en-US" sz="3500" spc="-63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eliable.</a:t>
            </a:r>
          </a:p>
          <a:p>
            <a:pPr algn="just" marL="0" indent="0" lvl="0">
              <a:lnSpc>
                <a:spcPts val="3920"/>
              </a:lnSpc>
            </a:pPr>
            <a:r>
              <a:rPr lang="en-US" sz="3500" spc="-63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</a:p>
          <a:p>
            <a:pPr algn="just" marL="0" indent="0" lvl="0">
              <a:lnSpc>
                <a:spcPts val="3920"/>
              </a:lnSpc>
            </a:pPr>
            <a:r>
              <a:rPr lang="en-US" sz="3500" spc="-63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Health ap</a:t>
            </a:r>
            <a:r>
              <a:rPr lang="en-US" sz="3500" spc="-63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ps als</a:t>
            </a:r>
            <a:r>
              <a:rPr lang="en-US" sz="3500" spc="-63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</a:t>
            </a:r>
            <a:r>
              <a:rPr lang="en-US" sz="3500" spc="-63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3500" spc="-63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</a:t>
            </a:r>
            <a:r>
              <a:rPr lang="en-US" sz="3500" spc="-63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ac</a:t>
            </a:r>
            <a:r>
              <a:rPr lang="en-US" sz="3500" spc="-63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 pri</a:t>
            </a:r>
            <a:r>
              <a:rPr lang="en-US" sz="3500" spc="-63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v</a:t>
            </a:r>
            <a:r>
              <a:rPr lang="en-US" sz="3500" spc="-63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</a:t>
            </a:r>
            <a:r>
              <a:rPr lang="en-US" sz="3500" spc="-63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cy</a:t>
            </a:r>
            <a:r>
              <a:rPr lang="en-US" sz="3500" spc="-63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and data-se</a:t>
            </a:r>
            <a:r>
              <a:rPr lang="en-US" sz="3500" spc="-63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cur</a:t>
            </a:r>
            <a:r>
              <a:rPr lang="en-US" sz="3500" spc="-63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ity risks, a</a:t>
            </a:r>
            <a:r>
              <a:rPr lang="en-US" sz="3500" spc="-63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 they </a:t>
            </a:r>
            <a:r>
              <a:rPr lang="en-US" sz="3500" spc="-63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</a:t>
            </a:r>
            <a:r>
              <a:rPr lang="en-US" sz="3500" spc="-63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olle</a:t>
            </a:r>
            <a:r>
              <a:rPr lang="en-US" sz="3500" spc="-63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</a:t>
            </a:r>
            <a:r>
              <a:rPr lang="en-US" sz="3500" spc="-63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 la</a:t>
            </a:r>
            <a:r>
              <a:rPr lang="en-US" sz="3500" spc="-63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</a:t>
            </a:r>
            <a:r>
              <a:rPr lang="en-US" sz="3500" spc="-63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ge </a:t>
            </a:r>
            <a:r>
              <a:rPr lang="en-US" sz="3500" spc="-63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amounts of sensitive personal information. </a:t>
            </a:r>
          </a:p>
          <a:p>
            <a:pPr algn="just" marL="0" indent="0" lvl="0">
              <a:lnSpc>
                <a:spcPts val="3920"/>
              </a:lnSpc>
            </a:pPr>
          </a:p>
          <a:p>
            <a:pPr algn="just" marL="0" indent="0" lvl="0">
              <a:lnSpc>
                <a:spcPts val="3920"/>
              </a:lnSpc>
            </a:pPr>
            <a:r>
              <a:rPr lang="en-US" sz="3500" spc="-63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User engagement often dr</a:t>
            </a:r>
            <a:r>
              <a:rPr lang="en-US" sz="3500" spc="-63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ops b</a:t>
            </a:r>
            <a:r>
              <a:rPr lang="en-US" sz="3500" spc="-63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ecau</a:t>
            </a:r>
            <a:r>
              <a:rPr lang="en-US" sz="3500" spc="-63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se feedba</a:t>
            </a:r>
            <a:r>
              <a:rPr lang="en-US" sz="3500" spc="-63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ck is rep</a:t>
            </a:r>
            <a:r>
              <a:rPr lang="en-US" sz="3500" spc="-63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et</a:t>
            </a:r>
            <a:r>
              <a:rPr lang="en-US" sz="3500" spc="-63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iti</a:t>
            </a:r>
            <a:r>
              <a:rPr lang="en-US" sz="3500" spc="-63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ve</a:t>
            </a:r>
            <a:r>
              <a:rPr lang="en-US" sz="3500" spc="-63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and no</a:t>
            </a:r>
            <a:r>
              <a:rPr lang="en-US" sz="3500" spc="-63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</a:t>
            </a:r>
            <a:r>
              <a:rPr lang="en-US" sz="3500" spc="-63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adaptive.</a:t>
            </a:r>
          </a:p>
          <a:p>
            <a:pPr algn="just" marL="0" indent="0" lvl="0">
              <a:lnSpc>
                <a:spcPts val="392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5410947" y="769896"/>
            <a:ext cx="2247079" cy="258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892"/>
              </a:lnSpc>
              <a:spcBef>
                <a:spcPct val="0"/>
              </a:spcBef>
            </a:pPr>
            <a:r>
              <a:rPr lang="en-US" sz="2150" spc="-3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07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6375769" cy="8307446"/>
            <a:chOff x="0" y="0"/>
            <a:chExt cx="1679215" cy="218796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79215" cy="2187969"/>
            </a:xfrm>
            <a:custGeom>
              <a:avLst/>
              <a:gdLst/>
              <a:ahLst/>
              <a:cxnLst/>
              <a:rect r="r" b="b" t="t" l="l"/>
              <a:pathLst>
                <a:path h="2187969" w="1679215">
                  <a:moveTo>
                    <a:pt x="0" y="0"/>
                  </a:moveTo>
                  <a:lnTo>
                    <a:pt x="1679215" y="0"/>
                  </a:lnTo>
                  <a:lnTo>
                    <a:pt x="1679215" y="2187969"/>
                  </a:lnTo>
                  <a:lnTo>
                    <a:pt x="0" y="2187969"/>
                  </a:lnTo>
                  <a:close/>
                </a:path>
              </a:pathLst>
            </a:custGeom>
            <a:solidFill>
              <a:srgbClr val="C4E98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66675"/>
              <a:ext cx="1679215" cy="21212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2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 flipH="true" flipV="true">
            <a:off x="10195560" y="-128502"/>
            <a:ext cx="19050" cy="10530840"/>
          </a:xfrm>
          <a:prstGeom prst="line">
            <a:avLst/>
          </a:prstGeom>
          <a:ln cap="flat" w="38100">
            <a:solidFill>
              <a:srgbClr val="000000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H="true" flipV="true">
            <a:off x="12317730" y="0"/>
            <a:ext cx="0" cy="10844298"/>
          </a:xfrm>
          <a:prstGeom prst="line">
            <a:avLst/>
          </a:prstGeom>
          <a:ln cap="flat" w="38100">
            <a:solidFill>
              <a:srgbClr val="000000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H="true" flipV="true">
            <a:off x="14422755" y="-278649"/>
            <a:ext cx="0" cy="10844298"/>
          </a:xfrm>
          <a:prstGeom prst="line">
            <a:avLst/>
          </a:prstGeom>
          <a:ln cap="flat" w="38100">
            <a:solidFill>
              <a:srgbClr val="000000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flipH="true" flipV="true">
            <a:off x="16527780" y="-557298"/>
            <a:ext cx="0" cy="10844298"/>
          </a:xfrm>
          <a:prstGeom prst="line">
            <a:avLst/>
          </a:prstGeom>
          <a:ln cap="flat" w="38100">
            <a:solidFill>
              <a:srgbClr val="000000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15410947" y="769896"/>
            <a:ext cx="2247079" cy="258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892"/>
              </a:lnSpc>
              <a:spcBef>
                <a:spcPct val="0"/>
              </a:spcBef>
            </a:pPr>
            <a:r>
              <a:rPr lang="en-US" sz="2150" spc="-3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03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0" y="8307446"/>
            <a:ext cx="6375769" cy="2094892"/>
            <a:chOff x="0" y="0"/>
            <a:chExt cx="1679215" cy="55174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79215" cy="551741"/>
            </a:xfrm>
            <a:custGeom>
              <a:avLst/>
              <a:gdLst/>
              <a:ahLst/>
              <a:cxnLst/>
              <a:rect r="r" b="b" t="t" l="l"/>
              <a:pathLst>
                <a:path h="551741" w="1679215">
                  <a:moveTo>
                    <a:pt x="0" y="0"/>
                  </a:moveTo>
                  <a:lnTo>
                    <a:pt x="1679215" y="0"/>
                  </a:lnTo>
                  <a:lnTo>
                    <a:pt x="1679215" y="551741"/>
                  </a:lnTo>
                  <a:lnTo>
                    <a:pt x="0" y="551741"/>
                  </a:lnTo>
                  <a:close/>
                </a:path>
              </a:pathLst>
            </a:custGeom>
            <a:solidFill>
              <a:srgbClr val="3D3A31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66675"/>
              <a:ext cx="1679215" cy="4850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2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583551" y="2513792"/>
            <a:ext cx="5974446" cy="3262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15"/>
              </a:lnSpc>
            </a:pPr>
            <a:r>
              <a:rPr lang="en-US" sz="9449" spc="-17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K</a:t>
            </a:r>
            <a:r>
              <a:rPr lang="en-US" sz="9449" spc="-17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ey Gap in </a:t>
            </a:r>
            <a:r>
              <a:rPr lang="en-US" sz="9449" spc="-17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Ex</a:t>
            </a:r>
            <a:r>
              <a:rPr lang="en-US" sz="9449" spc="-170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isting Systems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041593" y="1584325"/>
            <a:ext cx="9837142" cy="7032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spc="-7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Current systems do not provide dynamically adaptive daily health routines.</a:t>
            </a:r>
          </a:p>
          <a:p>
            <a:pPr algn="l">
              <a:lnSpc>
                <a:spcPts val="5599"/>
              </a:lnSpc>
              <a:spcBef>
                <a:spcPct val="0"/>
              </a:spcBef>
            </a:pPr>
          </a:p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spc="-7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• They lack AI-driven reasoning and multimodal data integration.</a:t>
            </a:r>
          </a:p>
          <a:p>
            <a:pPr algn="l">
              <a:lnSpc>
                <a:spcPts val="5599"/>
              </a:lnSpc>
              <a:spcBef>
                <a:spcPct val="0"/>
              </a:spcBef>
            </a:pPr>
          </a:p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spc="-7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• There is no system that integrates Ayurvedic constitution modeling with real-time health data to generate personalized Dinacharya recommendations.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3D3A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H="true" flipV="true">
            <a:off x="11561359" y="-340517"/>
            <a:ext cx="0" cy="11121442"/>
          </a:xfrm>
          <a:prstGeom prst="line">
            <a:avLst/>
          </a:prstGeom>
          <a:ln cap="flat" w="38100">
            <a:solidFill>
              <a:srgbClr val="FFFFFF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H="true" flipV="true">
            <a:off x="9144000" y="-340517"/>
            <a:ext cx="19050" cy="10742855"/>
          </a:xfrm>
          <a:prstGeom prst="line">
            <a:avLst/>
          </a:prstGeom>
          <a:ln cap="flat" w="38100">
            <a:solidFill>
              <a:srgbClr val="FFFFFF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527004" y="457200"/>
            <a:ext cx="12078061" cy="7132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49"/>
              </a:lnSpc>
            </a:pPr>
          </a:p>
          <a:p>
            <a:pPr algn="l" marL="0" indent="0" lvl="0">
              <a:lnSpc>
                <a:spcPts val="13749"/>
              </a:lnSpc>
            </a:pPr>
            <a:r>
              <a:rPr lang="en-US" sz="15624" spc="-281">
                <a:solidFill>
                  <a:srgbClr val="C4E98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Detailed Literature Review</a:t>
            </a:r>
          </a:p>
        </p:txBody>
      </p:sp>
      <p:sp>
        <p:nvSpPr>
          <p:cNvPr name="AutoShape 5" id="5"/>
          <p:cNvSpPr/>
          <p:nvPr/>
        </p:nvSpPr>
        <p:spPr>
          <a:xfrm flipV="true">
            <a:off x="15586290" y="-340517"/>
            <a:ext cx="0" cy="10968034"/>
          </a:xfrm>
          <a:prstGeom prst="line">
            <a:avLst/>
          </a:prstGeom>
          <a:ln cap="flat" w="38100">
            <a:solidFill>
              <a:srgbClr val="FFFFFF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1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H="true" flipV="true">
            <a:off x="11561359" y="-340517"/>
            <a:ext cx="0" cy="11121442"/>
          </a:xfrm>
          <a:prstGeom prst="line">
            <a:avLst/>
          </a:prstGeom>
          <a:ln cap="flat" w="38100">
            <a:solidFill>
              <a:srgbClr val="000000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H="true" flipV="true">
            <a:off x="9144000" y="-128502"/>
            <a:ext cx="19050" cy="10530840"/>
          </a:xfrm>
          <a:prstGeom prst="line">
            <a:avLst/>
          </a:prstGeom>
          <a:ln cap="flat" w="38100">
            <a:solidFill>
              <a:srgbClr val="000000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V="true">
            <a:off x="15586290" y="-340517"/>
            <a:ext cx="0" cy="10968034"/>
          </a:xfrm>
          <a:prstGeom prst="line">
            <a:avLst/>
          </a:prstGeom>
          <a:ln cap="flat" w="38100">
            <a:solidFill>
              <a:srgbClr val="000000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flipH="true" flipV="true">
            <a:off x="1645919" y="-128537"/>
            <a:ext cx="19050" cy="10530840"/>
          </a:xfrm>
          <a:prstGeom prst="line">
            <a:avLst/>
          </a:prstGeom>
          <a:ln cap="flat" w="38100">
            <a:solidFill>
              <a:srgbClr val="000000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5410947" y="769896"/>
            <a:ext cx="2247079" cy="258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892"/>
              </a:lnSpc>
              <a:spcBef>
                <a:spcPct val="0"/>
              </a:spcBef>
            </a:pPr>
            <a:r>
              <a:rPr lang="en-US" sz="2150" spc="-3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06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59946" y="501044"/>
            <a:ext cx="16542528" cy="10679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60"/>
              </a:lnSpc>
            </a:pPr>
            <a:r>
              <a:rPr lang="en-US" b="true" sz="3000" spc="-54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Title: A Survey on Machine Learning Techniques for Human Prakriti Classification (Gupta et al., 2019)</a:t>
            </a:r>
          </a:p>
          <a:p>
            <a:pPr algn="just">
              <a:lnSpc>
                <a:spcPts val="3360"/>
              </a:lnSpc>
            </a:pPr>
          </a:p>
          <a:p>
            <a:pPr algn="just">
              <a:lnSpc>
                <a:spcPts val="3360"/>
              </a:lnSpc>
            </a:pPr>
            <a:r>
              <a:rPr lang="en-US" b="true" sz="3000" spc="-54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Methodology: </a:t>
            </a:r>
          </a:p>
          <a:p>
            <a:pPr algn="just" marL="647700" indent="-323850" lvl="1">
              <a:lnSpc>
                <a:spcPts val="3360"/>
              </a:lnSpc>
              <a:buFont typeface="Arial"/>
              <a:buChar char="•"/>
            </a:pP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Analyzes techniques using questionnaire data, physiological traits, and image-based features.</a:t>
            </a:r>
          </a:p>
          <a:p>
            <a:pPr algn="just" marL="647700" indent="-323850" lvl="1">
              <a:lnSpc>
                <a:spcPts val="3360"/>
              </a:lnSpc>
              <a:buFont typeface="Arial"/>
              <a:buChar char="•"/>
            </a:pP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Surveys algorithms such as SVM, KNN, Decision Trees, Random Forest, and Neural Networks used in existing research.</a:t>
            </a:r>
          </a:p>
          <a:p>
            <a:pPr algn="just" marL="647700" indent="-323850" lvl="1">
              <a:lnSpc>
                <a:spcPts val="3360"/>
              </a:lnSpc>
              <a:buFont typeface="Arial"/>
              <a:buChar char="•"/>
            </a:pP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Examines feature extraction methods and classification pipelines applied to Ayurvedic datasets.</a:t>
            </a:r>
          </a:p>
          <a:p>
            <a:pPr algn="just">
              <a:lnSpc>
                <a:spcPts val="3360"/>
              </a:lnSpc>
            </a:pPr>
          </a:p>
          <a:p>
            <a:pPr algn="just">
              <a:lnSpc>
                <a:spcPts val="3360"/>
              </a:lnSpc>
            </a:pPr>
            <a:r>
              <a:rPr lang="en-US" b="true" sz="3000" spc="-54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Observation</a:t>
            </a: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: </a:t>
            </a:r>
          </a:p>
          <a:p>
            <a:pPr algn="l" marL="647700" indent="-323850" lvl="1">
              <a:lnSpc>
                <a:spcPts val="3360"/>
              </a:lnSpc>
              <a:buFont typeface="Arial"/>
              <a:buChar char="•"/>
            </a:pP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Most existing systems rely on limited datasets and single-modality inputs (e.g., questionnaires or images).</a:t>
            </a:r>
          </a:p>
          <a:p>
            <a:pPr algn="just" marL="647700" indent="-323850" lvl="1">
              <a:lnSpc>
                <a:spcPts val="3360"/>
              </a:lnSpc>
              <a:buFont typeface="Arial"/>
              <a:buChar char="•"/>
            </a:pP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Lack of standardized datasets and integrated multimodal health data.</a:t>
            </a:r>
          </a:p>
          <a:p>
            <a:pPr algn="just" marL="647700" indent="-323850" lvl="1">
              <a:lnSpc>
                <a:spcPts val="3360"/>
              </a:lnSpc>
              <a:buFont typeface="Arial"/>
              <a:buChar char="•"/>
            </a:pP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Indicates need for more intelligent and personalized decision systems combining multiple data sources.</a:t>
            </a:r>
          </a:p>
          <a:p>
            <a:pPr algn="just">
              <a:lnSpc>
                <a:spcPts val="3360"/>
              </a:lnSpc>
            </a:pPr>
          </a:p>
          <a:p>
            <a:pPr algn="just">
              <a:lnSpc>
                <a:spcPts val="3360"/>
              </a:lnSpc>
            </a:pPr>
            <a:r>
              <a:rPr lang="en-US" b="true" sz="3000" spc="-54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Results</a:t>
            </a: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: </a:t>
            </a:r>
          </a:p>
          <a:p>
            <a:pPr algn="l" marL="647700" indent="-323850" lvl="1">
              <a:lnSpc>
                <a:spcPts val="3360"/>
              </a:lnSpc>
              <a:buFont typeface="Arial"/>
              <a:buChar char="•"/>
            </a:pP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Machine learning techniques show promising accuracy in Prakriti classification, improving objectivity over traditional methods.</a:t>
            </a:r>
          </a:p>
          <a:p>
            <a:pPr algn="just" marL="647700" indent="-323850" lvl="1">
              <a:lnSpc>
                <a:spcPts val="3360"/>
              </a:lnSpc>
              <a:buFont typeface="Arial"/>
              <a:buChar char="•"/>
            </a:pP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However, challenges remain in data quality, validation, and real-world clinical applicability.</a:t>
            </a:r>
          </a:p>
          <a:p>
            <a:pPr algn="just">
              <a:lnSpc>
                <a:spcPts val="3360"/>
              </a:lnSpc>
            </a:pPr>
          </a:p>
          <a:p>
            <a:pPr algn="just">
              <a:lnSpc>
                <a:spcPts val="3360"/>
              </a:lnSpc>
            </a:pPr>
          </a:p>
          <a:p>
            <a:pPr algn="just">
              <a:lnSpc>
                <a:spcPts val="3360"/>
              </a:lnSpc>
            </a:pPr>
          </a:p>
          <a:p>
            <a:pPr algn="just">
              <a:lnSpc>
                <a:spcPts val="3360"/>
              </a:lnSpc>
            </a:pPr>
          </a:p>
          <a:p>
            <a:pPr algn="just" marL="0" indent="0" lvl="0">
              <a:lnSpc>
                <a:spcPts val="3360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CEC4B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H="true" flipV="true">
            <a:off x="11561359" y="-340517"/>
            <a:ext cx="0" cy="11121442"/>
          </a:xfrm>
          <a:prstGeom prst="line">
            <a:avLst/>
          </a:prstGeom>
          <a:ln cap="flat" w="38100">
            <a:solidFill>
              <a:srgbClr val="000000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H="true" flipV="true">
            <a:off x="9144000" y="-128502"/>
            <a:ext cx="19050" cy="10530840"/>
          </a:xfrm>
          <a:prstGeom prst="line">
            <a:avLst/>
          </a:prstGeom>
          <a:ln cap="flat" w="38100">
            <a:solidFill>
              <a:srgbClr val="000000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V="true">
            <a:off x="15586290" y="-340517"/>
            <a:ext cx="0" cy="10968034"/>
          </a:xfrm>
          <a:prstGeom prst="line">
            <a:avLst/>
          </a:prstGeom>
          <a:ln cap="flat" w="38100">
            <a:solidFill>
              <a:srgbClr val="000000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5410947" y="769896"/>
            <a:ext cx="2247079" cy="258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892"/>
              </a:lnSpc>
              <a:spcBef>
                <a:spcPct val="0"/>
              </a:spcBef>
            </a:pPr>
            <a:r>
              <a:rPr lang="en-US" sz="2150" spc="-3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08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83412" y="445770"/>
            <a:ext cx="17759276" cy="9841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60"/>
              </a:lnSpc>
            </a:pPr>
            <a:r>
              <a:rPr lang="en-US" b="true" sz="3000" spc="-54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Title: Analysis and Synthesis of A Human Prakriti Identification System Based on Soft Computing Techniques</a:t>
            </a:r>
          </a:p>
          <a:p>
            <a:pPr algn="just">
              <a:lnSpc>
                <a:spcPts val="3360"/>
              </a:lnSpc>
            </a:pPr>
          </a:p>
          <a:p>
            <a:pPr algn="just">
              <a:lnSpc>
                <a:spcPts val="3360"/>
              </a:lnSpc>
            </a:pPr>
            <a:r>
              <a:rPr lang="en-US" b="true" sz="3000" spc="-54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Methodology:</a:t>
            </a: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</a:p>
          <a:p>
            <a:pPr algn="l" marL="647700" indent="-323850" lvl="1">
              <a:lnSpc>
                <a:spcPts val="3360"/>
              </a:lnSpc>
              <a:buFont typeface="Arial"/>
              <a:buChar char="•"/>
            </a:pP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Uses machine learning models to automatically classify Ayurvedic Prakriti (Vata, Pitta, Kapha).</a:t>
            </a:r>
          </a:p>
          <a:p>
            <a:pPr algn="just" marL="647700" indent="-323850" lvl="1">
              <a:lnSpc>
                <a:spcPts val="3360"/>
              </a:lnSpc>
              <a:buFont typeface="Arial"/>
              <a:buChar char="•"/>
            </a:pP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Data collected through Ayurvedic questionnaire-based attributes describing physical, physiological, and psychological traits.</a:t>
            </a:r>
          </a:p>
          <a:p>
            <a:pPr algn="just" marL="647700" indent="-323850" lvl="1">
              <a:lnSpc>
                <a:spcPts val="3360"/>
              </a:lnSpc>
              <a:buFont typeface="Arial"/>
              <a:buChar char="•"/>
            </a:pP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Applied classification algorithms such as Decision Tree, Random Forest, and Support Vector Machine (SVM).</a:t>
            </a:r>
          </a:p>
          <a:p>
            <a:pPr algn="just">
              <a:lnSpc>
                <a:spcPts val="3360"/>
              </a:lnSpc>
            </a:pPr>
          </a:p>
          <a:p>
            <a:pPr algn="just">
              <a:lnSpc>
                <a:spcPts val="3360"/>
              </a:lnSpc>
            </a:pPr>
            <a:r>
              <a:rPr lang="en-US" b="true" sz="3000" spc="-54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Observation</a:t>
            </a: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: </a:t>
            </a:r>
          </a:p>
          <a:p>
            <a:pPr algn="just" marL="647700" indent="-323850" lvl="1">
              <a:lnSpc>
                <a:spcPts val="3360"/>
              </a:lnSpc>
              <a:buFont typeface="Arial"/>
              <a:buChar char="•"/>
            </a:pP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Classification relies mainly on questionnaire data, making results subjective.</a:t>
            </a:r>
          </a:p>
          <a:p>
            <a:pPr algn="just" marL="647700" indent="-323850" lvl="1">
              <a:lnSpc>
                <a:spcPts val="3360"/>
              </a:lnSpc>
              <a:buFont typeface="Arial"/>
              <a:buChar char="•"/>
            </a:pP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Limited integration of real-time health signals or multimodal data sources.</a:t>
            </a:r>
          </a:p>
          <a:p>
            <a:pPr algn="just" marL="647700" indent="-323850" lvl="1">
              <a:lnSpc>
                <a:spcPts val="3360"/>
              </a:lnSpc>
              <a:buFont typeface="Arial"/>
              <a:buChar char="•"/>
            </a:pP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Suggests scope for AI systems combining wearable data, lifestyle tracking, and behavioral inputs for more accurate Prakriti-based recommendations.</a:t>
            </a:r>
          </a:p>
          <a:p>
            <a:pPr algn="just">
              <a:lnSpc>
                <a:spcPts val="3360"/>
              </a:lnSpc>
            </a:pPr>
          </a:p>
          <a:p>
            <a:pPr algn="just">
              <a:lnSpc>
                <a:spcPts val="3360"/>
              </a:lnSpc>
            </a:pPr>
            <a:r>
              <a:rPr lang="en-US" b="true" sz="3000" spc="-54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Results</a:t>
            </a: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: </a:t>
            </a:r>
          </a:p>
          <a:p>
            <a:pPr algn="l" marL="647700" indent="-323850" lvl="1">
              <a:lnSpc>
                <a:spcPts val="3360"/>
              </a:lnSpc>
              <a:buFont typeface="Arial"/>
              <a:buChar char="•"/>
            </a:pP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Machine learning models successfully automate Prakriti identification with reasonable accuracy.</a:t>
            </a:r>
          </a:p>
          <a:p>
            <a:pPr algn="just" marL="647700" indent="-323850" lvl="1">
              <a:lnSpc>
                <a:spcPts val="3360"/>
              </a:lnSpc>
              <a:buFont typeface="Arial"/>
              <a:buChar char="•"/>
            </a:pP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Random Forest and SVM performed better compared to other classifiers.</a:t>
            </a:r>
          </a:p>
          <a:p>
            <a:pPr algn="just" marL="647700" indent="-323850" lvl="1">
              <a:lnSpc>
                <a:spcPts val="3360"/>
              </a:lnSpc>
              <a:buFont typeface="Arial"/>
              <a:buChar char="•"/>
            </a:pP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Demonstrates feasibility of AI-assisted Ayurvedic constitution assessment.</a:t>
            </a:r>
          </a:p>
          <a:p>
            <a:pPr algn="just">
              <a:lnSpc>
                <a:spcPts val="3360"/>
              </a:lnSpc>
            </a:pPr>
          </a:p>
          <a:p>
            <a:pPr algn="just">
              <a:lnSpc>
                <a:spcPts val="3360"/>
              </a:lnSpc>
            </a:pPr>
          </a:p>
          <a:p>
            <a:pPr algn="just" marL="0" indent="0" lvl="0">
              <a:lnSpc>
                <a:spcPts val="3360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1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H="true" flipV="true">
            <a:off x="11561359" y="-340517"/>
            <a:ext cx="0" cy="11121442"/>
          </a:xfrm>
          <a:prstGeom prst="line">
            <a:avLst/>
          </a:prstGeom>
          <a:ln cap="flat" w="38100">
            <a:solidFill>
              <a:srgbClr val="000000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H="true" flipV="true">
            <a:off x="9144000" y="-128502"/>
            <a:ext cx="19050" cy="10530840"/>
          </a:xfrm>
          <a:prstGeom prst="line">
            <a:avLst/>
          </a:prstGeom>
          <a:ln cap="flat" w="38100">
            <a:solidFill>
              <a:srgbClr val="000000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V="true">
            <a:off x="15586290" y="-340517"/>
            <a:ext cx="0" cy="10968034"/>
          </a:xfrm>
          <a:prstGeom prst="line">
            <a:avLst/>
          </a:prstGeom>
          <a:ln cap="flat" w="38100">
            <a:solidFill>
              <a:srgbClr val="000000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flipH="true" flipV="true">
            <a:off x="1645919" y="-128537"/>
            <a:ext cx="19050" cy="10530840"/>
          </a:xfrm>
          <a:prstGeom prst="line">
            <a:avLst/>
          </a:prstGeom>
          <a:ln cap="flat" w="38100">
            <a:solidFill>
              <a:srgbClr val="000000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5410947" y="769896"/>
            <a:ext cx="2247079" cy="258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892"/>
              </a:lnSpc>
              <a:spcBef>
                <a:spcPct val="0"/>
              </a:spcBef>
            </a:pPr>
            <a:r>
              <a:rPr lang="en-US" sz="2150" spc="-3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06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42001" y="575441"/>
            <a:ext cx="16542528" cy="9841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60"/>
              </a:lnSpc>
            </a:pPr>
            <a:r>
              <a:rPr lang="en-US" b="true" sz="3000" spc="-54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Title: Hybrid Machine Learning for Personalized Ayurvedic Drug Recommendation via Prakriti Assessment</a:t>
            </a:r>
          </a:p>
          <a:p>
            <a:pPr algn="just">
              <a:lnSpc>
                <a:spcPts val="3360"/>
              </a:lnSpc>
            </a:pPr>
          </a:p>
          <a:p>
            <a:pPr algn="just">
              <a:lnSpc>
                <a:spcPts val="3360"/>
              </a:lnSpc>
            </a:pPr>
            <a:r>
              <a:rPr lang="en-US" b="true" sz="3000" spc="-54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Methodology</a:t>
            </a: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:</a:t>
            </a:r>
          </a:p>
          <a:p>
            <a:pPr algn="l" marL="647700" indent="-323850" lvl="1">
              <a:lnSpc>
                <a:spcPts val="3360"/>
              </a:lnSpc>
              <a:buFont typeface="Arial"/>
              <a:buChar char="•"/>
            </a:pP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Random Forest used for Prakriti classification (Vata, Pitta, Kapha) based on physical and psychological traits.</a:t>
            </a:r>
          </a:p>
          <a:p>
            <a:pPr algn="just" marL="647700" indent="-323850" lvl="1">
              <a:lnSpc>
                <a:spcPts val="3360"/>
              </a:lnSpc>
              <a:buFont typeface="Arial"/>
              <a:buChar char="•"/>
            </a:pP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K-Means Clustering groups patients with similar profiles for personalized treatment plans.</a:t>
            </a:r>
          </a:p>
          <a:p>
            <a:pPr algn="just" marL="647700" indent="-323850" lvl="1">
              <a:lnSpc>
                <a:spcPts val="3360"/>
              </a:lnSpc>
              <a:buFont typeface="Arial"/>
              <a:buChar char="•"/>
            </a:pP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NLP Engine (BERT / TF-IDF) processes unstructured symptom descriptions and patient feedback.</a:t>
            </a:r>
          </a:p>
          <a:p>
            <a:pPr algn="just" marL="647700" indent="-323850" lvl="1">
              <a:lnSpc>
                <a:spcPts val="3360"/>
              </a:lnSpc>
              <a:buFont typeface="Arial"/>
              <a:buChar char="•"/>
            </a:pP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Rule-based Ayurvedic knowledge system integrates ML outputs to generate drug and lifestyle recommendations.</a:t>
            </a:r>
          </a:p>
          <a:p>
            <a:pPr algn="just">
              <a:lnSpc>
                <a:spcPts val="3360"/>
              </a:lnSpc>
            </a:pPr>
          </a:p>
          <a:p>
            <a:pPr algn="just">
              <a:lnSpc>
                <a:spcPts val="3360"/>
              </a:lnSpc>
            </a:pPr>
            <a:r>
              <a:rPr lang="en-US" b="true" sz="3000" spc="-54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Observation</a:t>
            </a: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: </a:t>
            </a:r>
          </a:p>
          <a:p>
            <a:pPr algn="l" marL="647700" indent="-323850" lvl="1">
              <a:lnSpc>
                <a:spcPts val="3360"/>
              </a:lnSpc>
              <a:buFont typeface="Arial"/>
              <a:buChar char="•"/>
            </a:pP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Uses hybrid ML instead of heavy deep learning, improving interpretability and efficiency.</a:t>
            </a:r>
          </a:p>
          <a:p>
            <a:pPr algn="just" marL="647700" indent="-323850" lvl="1">
              <a:lnSpc>
                <a:spcPts val="3360"/>
              </a:lnSpc>
              <a:buFont typeface="Arial"/>
              <a:buChar char="•"/>
            </a:pP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System still depends on static questionnaire-based inputs rather than real-time health monitoring.</a:t>
            </a:r>
          </a:p>
          <a:p>
            <a:pPr algn="just" marL="647700" indent="-323850" lvl="1">
              <a:lnSpc>
                <a:spcPts val="3360"/>
              </a:lnSpc>
              <a:buFont typeface="Arial"/>
              <a:buChar char="•"/>
            </a:pP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Shows potential for AI-driven personalized healthcare but lacks continuous data integration.</a:t>
            </a:r>
          </a:p>
          <a:p>
            <a:pPr algn="just">
              <a:lnSpc>
                <a:spcPts val="3360"/>
              </a:lnSpc>
            </a:pPr>
          </a:p>
          <a:p>
            <a:pPr algn="just">
              <a:lnSpc>
                <a:spcPts val="3360"/>
              </a:lnSpc>
            </a:pPr>
            <a:r>
              <a:rPr lang="en-US" b="true" sz="3000" spc="-54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Results</a:t>
            </a: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: </a:t>
            </a:r>
          </a:p>
          <a:p>
            <a:pPr algn="l" marL="647700" indent="-323850" lvl="1">
              <a:lnSpc>
                <a:spcPts val="3360"/>
              </a:lnSpc>
              <a:buFont typeface="Arial"/>
              <a:buChar char="•"/>
            </a:pP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Random Forest achieved ~95% accuracy in Prakriti classification.</a:t>
            </a:r>
          </a:p>
          <a:p>
            <a:pPr algn="just" marL="647700" indent="-323850" lvl="1">
              <a:lnSpc>
                <a:spcPts val="3360"/>
              </a:lnSpc>
              <a:buFont typeface="Arial"/>
              <a:buChar char="•"/>
            </a:pP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Tested on ~15,000 Prakriti samples and ~10,000 NLP symptom records.</a:t>
            </a:r>
          </a:p>
          <a:p>
            <a:pPr algn="just" marL="647700" indent="-323850" lvl="1">
              <a:lnSpc>
                <a:spcPts val="3360"/>
              </a:lnSpc>
              <a:buFont typeface="Arial"/>
              <a:buChar char="•"/>
            </a:pP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Hybrid approach enables scalable personalized Ayurvedic recommendations.</a:t>
            </a:r>
          </a:p>
          <a:p>
            <a:pPr algn="just">
              <a:lnSpc>
                <a:spcPts val="3360"/>
              </a:lnSpc>
            </a:pPr>
          </a:p>
          <a:p>
            <a:pPr algn="just">
              <a:lnSpc>
                <a:spcPts val="3360"/>
              </a:lnSpc>
            </a:pPr>
          </a:p>
          <a:p>
            <a:pPr algn="just" marL="0" indent="0" lvl="0">
              <a:lnSpc>
                <a:spcPts val="3360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3D3A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410947" y="769896"/>
            <a:ext cx="2247079" cy="258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892"/>
              </a:lnSpc>
              <a:spcBef>
                <a:spcPct val="0"/>
              </a:spcBef>
            </a:pPr>
            <a:r>
              <a:rPr lang="en-US" sz="2150" spc="-3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04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64362" y="196275"/>
            <a:ext cx="17759276" cy="11204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71"/>
              </a:lnSpc>
            </a:pPr>
            <a:r>
              <a:rPr lang="en-US" b="true" sz="3099" spc="-55">
                <a:solidFill>
                  <a:srgbClr val="CEC4B7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Title: AyuRAG: Ayurvedic Knowledge Integration with Retrieval-Augmented Lightweight Large Language Models (2024)</a:t>
            </a:r>
          </a:p>
          <a:p>
            <a:pPr algn="just">
              <a:lnSpc>
                <a:spcPts val="3471"/>
              </a:lnSpc>
            </a:pPr>
          </a:p>
          <a:p>
            <a:pPr algn="just">
              <a:lnSpc>
                <a:spcPts val="3471"/>
              </a:lnSpc>
            </a:pPr>
            <a:r>
              <a:rPr lang="en-US" b="true" sz="3099" spc="-55">
                <a:solidFill>
                  <a:srgbClr val="CEC4B7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Methodology:</a:t>
            </a:r>
            <a:r>
              <a:rPr lang="en-US" sz="3099" spc="-55">
                <a:solidFill>
                  <a:srgbClr val="CEC4B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</a:p>
          <a:p>
            <a:pPr algn="l" marL="669289" indent="-334645" lvl="1">
              <a:lnSpc>
                <a:spcPts val="3471"/>
              </a:lnSpc>
              <a:buFont typeface="Arial"/>
              <a:buChar char="•"/>
            </a:pPr>
            <a:r>
              <a:rPr lang="en-US" sz="3099" spc="-55">
                <a:solidFill>
                  <a:srgbClr val="CEC4B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Retrieval-Augmented Generation (RAG) to combine Ayurvedic knowledge bases with a lightweight Large Language Model (LLM).</a:t>
            </a:r>
          </a:p>
          <a:p>
            <a:pPr algn="l" marL="669289" indent="-334645" lvl="1">
              <a:lnSpc>
                <a:spcPts val="3471"/>
              </a:lnSpc>
              <a:buFont typeface="Arial"/>
              <a:buChar char="•"/>
            </a:pPr>
            <a:r>
              <a:rPr lang="en-US" sz="3099" spc="-55">
                <a:solidFill>
                  <a:srgbClr val="CEC4B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 retriev</a:t>
            </a:r>
            <a:r>
              <a:rPr lang="en-US" sz="3099" spc="-55">
                <a:solidFill>
                  <a:srgbClr val="CEC4B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al system searches a curated Ayurvedic knowledge repository (texts, treatment guidelines, dosha information).</a:t>
            </a:r>
          </a:p>
          <a:p>
            <a:pPr algn="l" marL="669289" indent="-334645" lvl="1">
              <a:lnSpc>
                <a:spcPts val="3471"/>
              </a:lnSpc>
              <a:buFont typeface="Arial"/>
              <a:buChar char="•"/>
            </a:pPr>
            <a:r>
              <a:rPr lang="en-US" sz="3099" spc="-55">
                <a:solidFill>
                  <a:srgbClr val="CEC4B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Retr</a:t>
            </a:r>
            <a:r>
              <a:rPr lang="en-US" sz="3099" spc="-55">
                <a:solidFill>
                  <a:srgbClr val="CEC4B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ieved information is fed to the LLM to generate accurate responses and recommendations.</a:t>
            </a:r>
          </a:p>
          <a:p>
            <a:pPr algn="l" marL="669289" indent="-334645" lvl="1">
              <a:lnSpc>
                <a:spcPts val="3471"/>
              </a:lnSpc>
              <a:buFont typeface="Arial"/>
              <a:buChar char="•"/>
            </a:pPr>
            <a:r>
              <a:rPr lang="en-US" sz="3099" spc="-55">
                <a:solidFill>
                  <a:srgbClr val="CEC4B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Designed to reduce hallucinations while keeping the system computationally efficient using smaller LLMs.</a:t>
            </a:r>
          </a:p>
          <a:p>
            <a:pPr algn="just">
              <a:lnSpc>
                <a:spcPts val="3471"/>
              </a:lnSpc>
            </a:pPr>
          </a:p>
          <a:p>
            <a:pPr algn="just">
              <a:lnSpc>
                <a:spcPts val="3471"/>
              </a:lnSpc>
            </a:pPr>
            <a:r>
              <a:rPr lang="en-US" b="true" sz="3099" spc="-55">
                <a:solidFill>
                  <a:srgbClr val="CEC4B7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Observation</a:t>
            </a:r>
            <a:r>
              <a:rPr lang="en-US" sz="3099" spc="-55">
                <a:solidFill>
                  <a:srgbClr val="CEC4B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: </a:t>
            </a:r>
          </a:p>
          <a:p>
            <a:pPr algn="just" marL="669289" indent="-334645" lvl="1">
              <a:lnSpc>
                <a:spcPts val="3471"/>
              </a:lnSpc>
              <a:buFont typeface="Arial"/>
              <a:buChar char="•"/>
            </a:pPr>
            <a:r>
              <a:rPr lang="en-US" sz="3099" spc="-55">
                <a:solidFill>
                  <a:srgbClr val="CEC4B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Demonstrates how LLM + knowledge retrieval can support Ayurvedic decision systems.</a:t>
            </a:r>
          </a:p>
          <a:p>
            <a:pPr algn="just" marL="669289" indent="-334645" lvl="1">
              <a:lnSpc>
                <a:spcPts val="3471"/>
              </a:lnSpc>
              <a:buFont typeface="Arial"/>
              <a:buChar char="•"/>
            </a:pPr>
            <a:r>
              <a:rPr lang="en-US" sz="3099" spc="-55">
                <a:solidFill>
                  <a:srgbClr val="CEC4B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Focuses </a:t>
            </a:r>
            <a:r>
              <a:rPr lang="en-US" sz="3099" spc="-55">
                <a:solidFill>
                  <a:srgbClr val="CEC4B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more on knowledge-grounded responses rather than predictive health modeling.</a:t>
            </a:r>
          </a:p>
          <a:p>
            <a:pPr algn="just" marL="669289" indent="-334645" lvl="1">
              <a:lnSpc>
                <a:spcPts val="3471"/>
              </a:lnSpc>
              <a:buFont typeface="Arial"/>
              <a:buChar char="•"/>
            </a:pPr>
            <a:r>
              <a:rPr lang="en-US" sz="3099" spc="-55">
                <a:solidFill>
                  <a:srgbClr val="CEC4B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Does not integrate multimodal health data or continuous monitoring, leaving room for more advanced personalized systems.</a:t>
            </a:r>
          </a:p>
          <a:p>
            <a:pPr algn="just">
              <a:lnSpc>
                <a:spcPts val="3471"/>
              </a:lnSpc>
            </a:pPr>
          </a:p>
          <a:p>
            <a:pPr algn="just">
              <a:lnSpc>
                <a:spcPts val="3471"/>
              </a:lnSpc>
            </a:pPr>
            <a:r>
              <a:rPr lang="en-US" b="true" sz="3099" spc="-55">
                <a:solidFill>
                  <a:srgbClr val="CEC4B7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Results</a:t>
            </a:r>
            <a:r>
              <a:rPr lang="en-US" sz="3099" spc="-55">
                <a:solidFill>
                  <a:srgbClr val="CEC4B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: </a:t>
            </a:r>
          </a:p>
          <a:p>
            <a:pPr algn="l" marL="669289" indent="-334645" lvl="1">
              <a:lnSpc>
                <a:spcPts val="3471"/>
              </a:lnSpc>
              <a:buFont typeface="Arial"/>
              <a:buChar char="•"/>
            </a:pPr>
            <a:r>
              <a:rPr lang="en-US" sz="3099" spc="-55">
                <a:solidFill>
                  <a:srgbClr val="CEC4B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RAG s</a:t>
            </a:r>
            <a:r>
              <a:rPr lang="en-US" sz="3099" spc="-55">
                <a:solidFill>
                  <a:srgbClr val="CEC4B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ignificantly improves factual accuracy by grounding responses in verified Ayurvedic knowledge sources.</a:t>
            </a:r>
          </a:p>
          <a:p>
            <a:pPr algn="l" marL="669289" indent="-334645" lvl="1">
              <a:lnSpc>
                <a:spcPts val="3471"/>
              </a:lnSpc>
              <a:buFont typeface="Arial"/>
              <a:buChar char="•"/>
            </a:pPr>
            <a:r>
              <a:rPr lang="en-US" sz="3099" spc="-55">
                <a:solidFill>
                  <a:srgbClr val="CEC4B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Lightweight</a:t>
            </a:r>
            <a:r>
              <a:rPr lang="en-US" sz="3099" spc="-55">
                <a:solidFill>
                  <a:srgbClr val="CEC4B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LLMs can perform effectively when combined with retrieval mechanisms.</a:t>
            </a:r>
          </a:p>
          <a:p>
            <a:pPr algn="just">
              <a:lnSpc>
                <a:spcPts val="3471"/>
              </a:lnSpc>
            </a:pPr>
          </a:p>
          <a:p>
            <a:pPr algn="just">
              <a:lnSpc>
                <a:spcPts val="3471"/>
              </a:lnSpc>
            </a:pPr>
          </a:p>
          <a:p>
            <a:pPr algn="just" marL="0" indent="0" lvl="0">
              <a:lnSpc>
                <a:spcPts val="3471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CEC4B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H="true" flipV="true">
            <a:off x="11561359" y="-340517"/>
            <a:ext cx="0" cy="11121442"/>
          </a:xfrm>
          <a:prstGeom prst="line">
            <a:avLst/>
          </a:prstGeom>
          <a:ln cap="flat" w="38100">
            <a:solidFill>
              <a:srgbClr val="000000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H="true" flipV="true">
            <a:off x="9144000" y="-128502"/>
            <a:ext cx="19050" cy="10530840"/>
          </a:xfrm>
          <a:prstGeom prst="line">
            <a:avLst/>
          </a:prstGeom>
          <a:ln cap="flat" w="38100">
            <a:solidFill>
              <a:srgbClr val="000000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V="true">
            <a:off x="15586290" y="-340517"/>
            <a:ext cx="0" cy="10968034"/>
          </a:xfrm>
          <a:prstGeom prst="line">
            <a:avLst/>
          </a:prstGeom>
          <a:ln cap="flat" w="38100">
            <a:solidFill>
              <a:srgbClr val="000000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283412" y="461010"/>
            <a:ext cx="17759276" cy="10260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60"/>
              </a:lnSpc>
            </a:pPr>
            <a:r>
              <a:rPr lang="en-US" b="true" sz="3000" spc="-54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Title: AI-Driven Multimodal Workflow Optimization for Personalized Patient-Centered Care (WJAETS, 2024)</a:t>
            </a:r>
          </a:p>
          <a:p>
            <a:pPr algn="just">
              <a:lnSpc>
                <a:spcPts val="3360"/>
              </a:lnSpc>
            </a:pPr>
          </a:p>
          <a:p>
            <a:pPr algn="just">
              <a:lnSpc>
                <a:spcPts val="3360"/>
              </a:lnSpc>
            </a:pPr>
            <a:r>
              <a:rPr lang="en-US" b="true" sz="3000" spc="-54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Methodology:</a:t>
            </a: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</a:p>
          <a:p>
            <a:pPr algn="l" marL="647700" indent="-323850" lvl="1">
              <a:lnSpc>
                <a:spcPts val="3360"/>
              </a:lnSpc>
              <a:buFont typeface="Arial"/>
              <a:buChar char="•"/>
            </a:pP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Propo</a:t>
            </a: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ses an AI-driven healthcare framework integrating multimodal patient data.</a:t>
            </a:r>
          </a:p>
          <a:p>
            <a:pPr algn="l" marL="647700" indent="-323850" lvl="1">
              <a:lnSpc>
                <a:spcPts val="3360"/>
              </a:lnSpc>
              <a:buFont typeface="Arial"/>
              <a:buChar char="•"/>
            </a:pP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Combines</a:t>
            </a: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Electronic Health Records (EHR), wearable device data, medical imaging, and patient-reported symptoms.</a:t>
            </a:r>
          </a:p>
          <a:p>
            <a:pPr algn="l" marL="647700" indent="-323850" lvl="1">
              <a:lnSpc>
                <a:spcPts val="3360"/>
              </a:lnSpc>
              <a:buFont typeface="Arial"/>
              <a:buChar char="•"/>
            </a:pP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Uses mach</a:t>
            </a: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ine learning and data fusion techniques to analyze heterogeneous health data streams.</a:t>
            </a:r>
          </a:p>
          <a:p>
            <a:pPr algn="l" marL="647700" indent="-323850" lvl="1">
              <a:lnSpc>
                <a:spcPts val="3360"/>
              </a:lnSpc>
              <a:buFont typeface="Arial"/>
              <a:buChar char="•"/>
            </a:pP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AI models support clinical decision-making, treatment planning, and workflow automation.</a:t>
            </a:r>
          </a:p>
          <a:p>
            <a:pPr algn="just">
              <a:lnSpc>
                <a:spcPts val="3360"/>
              </a:lnSpc>
            </a:pPr>
          </a:p>
          <a:p>
            <a:pPr algn="just">
              <a:lnSpc>
                <a:spcPts val="3360"/>
              </a:lnSpc>
            </a:pPr>
            <a:r>
              <a:rPr lang="en-US" b="true" sz="3000" spc="-54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Observation</a:t>
            </a: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: </a:t>
            </a:r>
          </a:p>
          <a:p>
            <a:pPr algn="just" marL="647700" indent="-323850" lvl="1">
              <a:lnSpc>
                <a:spcPts val="3360"/>
              </a:lnSpc>
              <a:buFont typeface="Arial"/>
              <a:buChar char="•"/>
            </a:pP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Demonstrates the power of multimodal health data integration for personalized healthcare.</a:t>
            </a:r>
          </a:p>
          <a:p>
            <a:pPr algn="just" marL="647700" indent="-323850" lvl="1">
              <a:lnSpc>
                <a:spcPts val="3360"/>
              </a:lnSpc>
              <a:buFont typeface="Arial"/>
              <a:buChar char="•"/>
            </a:pP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However, the system is designed mainly for modern clinical healthcare systems rather than traditional medical frameworks like Ayurveda.</a:t>
            </a:r>
          </a:p>
          <a:p>
            <a:pPr algn="just" marL="647700" indent="-323850" lvl="1">
              <a:lnSpc>
                <a:spcPts val="3360"/>
              </a:lnSpc>
              <a:buFont typeface="Arial"/>
              <a:buChar char="•"/>
            </a:pP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Highlights the opportunity to apply similar multimodal AI approaches to Ayurvedic personalized lifestyle systems.</a:t>
            </a:r>
          </a:p>
          <a:p>
            <a:pPr algn="just">
              <a:lnSpc>
                <a:spcPts val="3360"/>
              </a:lnSpc>
            </a:pPr>
          </a:p>
          <a:p>
            <a:pPr algn="just">
              <a:lnSpc>
                <a:spcPts val="3360"/>
              </a:lnSpc>
            </a:pPr>
            <a:r>
              <a:rPr lang="en-US" b="true" sz="3000" spc="-54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Results</a:t>
            </a: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: </a:t>
            </a:r>
          </a:p>
          <a:p>
            <a:pPr algn="l" marL="647700" indent="-323850" lvl="1">
              <a:lnSpc>
                <a:spcPts val="3360"/>
              </a:lnSpc>
              <a:buFont typeface="Arial"/>
              <a:buChar char="•"/>
            </a:pP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Multimodal AI systems improve diagnostic accuracy,</a:t>
            </a: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treatment personalization, and healthcare workflow efficiency.</a:t>
            </a:r>
          </a:p>
          <a:p>
            <a:pPr algn="l" marL="647700" indent="-323850" lvl="1">
              <a:lnSpc>
                <a:spcPts val="3360"/>
              </a:lnSpc>
              <a:buFont typeface="Arial"/>
              <a:buChar char="•"/>
            </a:pP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AI-driv</a:t>
            </a: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en automation reduces clinical workload and enhances patient-centered care.</a:t>
            </a:r>
          </a:p>
          <a:p>
            <a:pPr algn="just">
              <a:lnSpc>
                <a:spcPts val="3360"/>
              </a:lnSpc>
            </a:pPr>
          </a:p>
          <a:p>
            <a:pPr algn="just">
              <a:lnSpc>
                <a:spcPts val="3360"/>
              </a:lnSpc>
            </a:pPr>
          </a:p>
          <a:p>
            <a:pPr algn="just" marL="0" indent="0" lvl="0">
              <a:lnSpc>
                <a:spcPts val="3360"/>
              </a:lnSpc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CEC4B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64362" y="472687"/>
            <a:ext cx="17759276" cy="10222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60"/>
              </a:lnSpc>
            </a:pPr>
            <a:r>
              <a:rPr lang="en-US" b="true" sz="3000" spc="-54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Title: Human Activity Recognition with Smartphones using Machine Learning Algorithm</a:t>
            </a:r>
          </a:p>
          <a:p>
            <a:pPr algn="just">
              <a:lnSpc>
                <a:spcPts val="3360"/>
              </a:lnSpc>
            </a:pPr>
          </a:p>
          <a:p>
            <a:pPr algn="just">
              <a:lnSpc>
                <a:spcPts val="3360"/>
              </a:lnSpc>
            </a:pPr>
            <a:r>
              <a:rPr lang="en-US" b="true" sz="3000" spc="-54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Methodology:</a:t>
            </a: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</a:p>
          <a:p>
            <a:pPr algn="l" marL="647700" indent="-323850" lvl="1">
              <a:lnSpc>
                <a:spcPts val="3360"/>
              </a:lnSpc>
              <a:buFont typeface="Arial"/>
              <a:buChar char="•"/>
            </a:pP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</a:t>
            </a: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ses smartphone sensors (accelerometer and gyroscope) to capture motion signals from users</a:t>
            </a: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performing daily activities.</a:t>
            </a:r>
          </a:p>
          <a:p>
            <a:pPr algn="l" marL="647700" indent="-323850" lvl="1">
              <a:lnSpc>
                <a:spcPts val="3360"/>
              </a:lnSpc>
              <a:buFont typeface="Arial"/>
              <a:buChar char="•"/>
            </a:pP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Extracts statistical features from sensor signals and appli</a:t>
            </a: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es mach</a:t>
            </a: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ine learning classifiers for activity recognition.</a:t>
            </a:r>
          </a:p>
          <a:p>
            <a:pPr algn="l" marL="647700" indent="-323850" lvl="1">
              <a:lnSpc>
                <a:spcPts val="3360"/>
              </a:lnSpc>
              <a:buFont typeface="Arial"/>
              <a:buChar char="•"/>
            </a:pP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Activities such as walking, sitting, standing, laying,</a:t>
            </a: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and stair climbing are classified using supervised learning algorithms.</a:t>
            </a:r>
          </a:p>
          <a:p>
            <a:pPr algn="just">
              <a:lnSpc>
                <a:spcPts val="3360"/>
              </a:lnSpc>
            </a:pPr>
          </a:p>
          <a:p>
            <a:pPr algn="just">
              <a:lnSpc>
                <a:spcPts val="3360"/>
              </a:lnSpc>
            </a:pPr>
            <a:r>
              <a:rPr lang="en-US" b="true" sz="3000" spc="-54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Observation</a:t>
            </a: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: </a:t>
            </a:r>
          </a:p>
          <a:p>
            <a:pPr algn="just" marL="647700" indent="-323850" lvl="1">
              <a:lnSpc>
                <a:spcPts val="3360"/>
              </a:lnSpc>
              <a:buFont typeface="Arial"/>
              <a:buChar char="•"/>
            </a:pP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Demonstrates how sensor-based data can capture daily human behavior patterns automatically.</a:t>
            </a:r>
          </a:p>
          <a:p>
            <a:pPr algn="just" marL="647700" indent="-323850" lvl="1">
              <a:lnSpc>
                <a:spcPts val="3360"/>
              </a:lnSpc>
              <a:buFont typeface="Arial"/>
              <a:buChar char="•"/>
            </a:pP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However, the study focuses only on physical activity detection and not health or lifestyle recommendations.</a:t>
            </a:r>
          </a:p>
          <a:p>
            <a:pPr algn="just" marL="647700" indent="-323850" lvl="1">
              <a:lnSpc>
                <a:spcPts val="3360"/>
              </a:lnSpc>
              <a:buFont typeface="Arial"/>
              <a:buChar char="•"/>
            </a:pP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Indicates potential for integrating activity recognition with personalized health systems such as Ayurvedic Dinacharya monitoring.</a:t>
            </a:r>
          </a:p>
          <a:p>
            <a:pPr algn="just">
              <a:lnSpc>
                <a:spcPts val="3360"/>
              </a:lnSpc>
            </a:pPr>
          </a:p>
          <a:p>
            <a:pPr algn="just">
              <a:lnSpc>
                <a:spcPts val="3360"/>
              </a:lnSpc>
            </a:pPr>
            <a:r>
              <a:rPr lang="en-US" b="true" sz="3000" spc="-54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Results</a:t>
            </a: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: </a:t>
            </a:r>
          </a:p>
          <a:p>
            <a:pPr algn="l" marL="647700" indent="-323850" lvl="1">
              <a:lnSpc>
                <a:spcPts val="3360"/>
              </a:lnSpc>
              <a:buFont typeface="Arial"/>
              <a:buChar char="•"/>
            </a:pP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</a:t>
            </a: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system achieved high classification accuracy</a:t>
            </a: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(~90–95%) in recognizing human activities using smartphone sensor data.</a:t>
            </a:r>
          </a:p>
          <a:p>
            <a:pPr algn="l" marL="647700" indent="-323850" lvl="1">
              <a:lnSpc>
                <a:spcPts val="3360"/>
              </a:lnSpc>
              <a:buFont typeface="Arial"/>
              <a:buChar char="•"/>
            </a:pP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Shows that low-cost smartphones can effect</a:t>
            </a: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iv</a:t>
            </a: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ely support real-time activity monitoring without specialized wearable devices.</a:t>
            </a:r>
          </a:p>
          <a:p>
            <a:pPr algn="just">
              <a:lnSpc>
                <a:spcPts val="3360"/>
              </a:lnSpc>
            </a:pPr>
          </a:p>
          <a:p>
            <a:pPr algn="just">
              <a:lnSpc>
                <a:spcPts val="3360"/>
              </a:lnSpc>
            </a:pPr>
          </a:p>
          <a:p>
            <a:pPr algn="just" marL="0" indent="0" lvl="0">
              <a:lnSpc>
                <a:spcPts val="3360"/>
              </a:lnSpc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CEC4B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64362" y="472687"/>
            <a:ext cx="17759276" cy="10441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60"/>
              </a:lnSpc>
            </a:pPr>
            <a:r>
              <a:rPr lang="en-US" b="true" sz="3000" spc="-54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Title: GatorTronGPT: A Large Language Model for Clinical Natural Language Processing    </a:t>
            </a:r>
          </a:p>
          <a:p>
            <a:pPr algn="just">
              <a:lnSpc>
                <a:spcPts val="3360"/>
              </a:lnSpc>
            </a:pPr>
          </a:p>
          <a:p>
            <a:pPr algn="just">
              <a:lnSpc>
                <a:spcPts val="3136"/>
              </a:lnSpc>
            </a:pPr>
            <a:r>
              <a:rPr lang="en-US" b="true" sz="2800" spc="-5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Methodology:</a:t>
            </a:r>
            <a:r>
              <a:rPr lang="en-US" sz="2800" spc="-5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</a:p>
          <a:p>
            <a:pPr algn="l" marL="582932" indent="-291466" lvl="1">
              <a:lnSpc>
                <a:spcPts val="3024"/>
              </a:lnSpc>
              <a:buFont typeface="Arial"/>
              <a:buChar char="•"/>
            </a:pPr>
            <a:r>
              <a:rPr lang="en-US" sz="2700" spc="-4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Develop</a:t>
            </a:r>
            <a:r>
              <a:rPr lang="en-US" sz="2700" spc="-4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ed a domain-specific Large Language Model (LLM) trained on large-scale clinical and bi</a:t>
            </a:r>
            <a:r>
              <a:rPr lang="en-US" sz="2700" spc="-4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omedical datasets.</a:t>
            </a:r>
          </a:p>
          <a:p>
            <a:pPr algn="l" marL="582932" indent="-291466" lvl="1">
              <a:lnSpc>
                <a:spcPts val="3024"/>
              </a:lnSpc>
              <a:buFont typeface="Arial"/>
              <a:buChar char="•"/>
            </a:pPr>
            <a:r>
              <a:rPr lang="en-US" sz="2700" spc="-4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model w</a:t>
            </a:r>
            <a:r>
              <a:rPr lang="en-US" sz="2700" spc="-4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as trained on over 90 billion tokens including electronic health r</a:t>
            </a:r>
            <a:r>
              <a:rPr lang="en-US" sz="2700" spc="-4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ecords (EHRs), biomed</a:t>
            </a:r>
            <a:r>
              <a:rPr lang="en-US" sz="2700" spc="-4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ical literature, and medical textbooks.</a:t>
            </a:r>
          </a:p>
          <a:p>
            <a:pPr algn="l" marL="582932" indent="-291466" lvl="1">
              <a:lnSpc>
                <a:spcPts val="3024"/>
              </a:lnSpc>
              <a:buFont typeface="Arial"/>
              <a:buChar char="•"/>
            </a:pPr>
            <a:r>
              <a:rPr lang="en-US" sz="2700" spc="-4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Designed to perform various clinical NLP tasks such as medical question answering, clinical reasoning,</a:t>
            </a:r>
            <a:r>
              <a:rPr lang="en-US" sz="2700" spc="-4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and information extraction from medical documents.</a:t>
            </a:r>
          </a:p>
          <a:p>
            <a:pPr algn="l" marL="582932" indent="-291466" lvl="1">
              <a:lnSpc>
                <a:spcPts val="3024"/>
              </a:lnSpc>
              <a:buFont typeface="Arial"/>
              <a:buChar char="•"/>
            </a:pPr>
            <a:r>
              <a:rPr lang="en-US" sz="2700" spc="-4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architecture applies transformer-based language modeling with domain-specific training to improve healthcare text understanding.</a:t>
            </a:r>
          </a:p>
          <a:p>
            <a:pPr algn="just">
              <a:lnSpc>
                <a:spcPts val="3360"/>
              </a:lnSpc>
            </a:pPr>
          </a:p>
          <a:p>
            <a:pPr algn="just">
              <a:lnSpc>
                <a:spcPts val="3360"/>
              </a:lnSpc>
            </a:pPr>
            <a:r>
              <a:rPr lang="en-US" b="true" sz="3000" spc="-54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Observation</a:t>
            </a: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: </a:t>
            </a:r>
          </a:p>
          <a:p>
            <a:pPr algn="just" marL="582932" indent="-291466" lvl="1">
              <a:lnSpc>
                <a:spcPts val="3024"/>
              </a:lnSpc>
              <a:buFont typeface="Arial"/>
              <a:buChar char="•"/>
            </a:pPr>
            <a:r>
              <a:rPr lang="en-US" sz="2700" spc="-4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Domain-specific training significantly improves the accuracy and reliability of medical language models compared to general-purpose LLMs.</a:t>
            </a:r>
          </a:p>
          <a:p>
            <a:pPr algn="just" marL="582932" indent="-291466" lvl="1">
              <a:lnSpc>
                <a:spcPts val="3024"/>
              </a:lnSpc>
              <a:buFont typeface="Arial"/>
              <a:buChar char="•"/>
            </a:pPr>
            <a:r>
              <a:rPr lang="en-US" sz="2700" spc="-4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system demonstrates that LLMs trained on healthcare data can support clinical decision-making and medical information retrieval.</a:t>
            </a:r>
          </a:p>
          <a:p>
            <a:pPr algn="just" marL="582932" indent="-291466" lvl="1">
              <a:lnSpc>
                <a:spcPts val="3024"/>
              </a:lnSpc>
              <a:buFont typeface="Arial"/>
              <a:buChar char="•"/>
            </a:pPr>
            <a:r>
              <a:rPr lang="en-US" sz="2700" spc="-4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However, these systems require strict safety and privacy considerations due to the sensitive nature of healthcare data.</a:t>
            </a:r>
          </a:p>
          <a:p>
            <a:pPr algn="just">
              <a:lnSpc>
                <a:spcPts val="3360"/>
              </a:lnSpc>
            </a:pPr>
          </a:p>
          <a:p>
            <a:pPr algn="just">
              <a:lnSpc>
                <a:spcPts val="3360"/>
              </a:lnSpc>
            </a:pPr>
            <a:r>
              <a:rPr lang="en-US" b="true" sz="3000" spc="-54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Results</a:t>
            </a: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: </a:t>
            </a:r>
          </a:p>
          <a:p>
            <a:pPr algn="l" marL="582932" indent="-291466" lvl="1">
              <a:lnSpc>
                <a:spcPts val="3024"/>
              </a:lnSpc>
              <a:buFont typeface="Arial"/>
              <a:buChar char="•"/>
            </a:pPr>
            <a:r>
              <a:rPr lang="en-US" sz="2700" spc="-4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Achieved</a:t>
            </a:r>
            <a:r>
              <a:rPr lang="en-US" sz="2700" spc="-4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state-of-the-art performance on multiple clinical NLP benchmarks.</a:t>
            </a:r>
          </a:p>
          <a:p>
            <a:pPr algn="l" marL="582932" indent="-291466" lvl="1">
              <a:lnSpc>
                <a:spcPts val="3024"/>
              </a:lnSpc>
              <a:buFont typeface="Arial"/>
              <a:buChar char="•"/>
            </a:pPr>
            <a:r>
              <a:rPr lang="en-US" sz="2700" spc="-4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Demonstrated improved accuracy</a:t>
            </a:r>
            <a:r>
              <a:rPr lang="en-US" sz="2700" spc="-4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in tasks such as clinical question answering, medical reasoning, and document summarization.</a:t>
            </a:r>
          </a:p>
          <a:p>
            <a:pPr algn="l" marL="582932" indent="-291466" lvl="1">
              <a:lnSpc>
                <a:spcPts val="3024"/>
              </a:lnSpc>
              <a:buFont typeface="Arial"/>
              <a:buChar char="•"/>
            </a:pPr>
            <a:r>
              <a:rPr lang="en-US" sz="2700" spc="-4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Shows strong potent</a:t>
            </a:r>
            <a:r>
              <a:rPr lang="en-US" sz="2700" spc="-4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ia</a:t>
            </a:r>
            <a:r>
              <a:rPr lang="en-US" sz="2700" spc="-4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 for AI-assisted healthcare systems and clinical decision support tools.</a:t>
            </a:r>
          </a:p>
          <a:p>
            <a:pPr algn="just">
              <a:lnSpc>
                <a:spcPts val="3360"/>
              </a:lnSpc>
            </a:pPr>
          </a:p>
          <a:p>
            <a:pPr algn="just">
              <a:lnSpc>
                <a:spcPts val="3360"/>
              </a:lnSpc>
            </a:pPr>
          </a:p>
          <a:p>
            <a:pPr algn="just" marL="0" indent="0" lvl="0">
              <a:lnSpc>
                <a:spcPts val="3360"/>
              </a:lnSpc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F1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64362" y="384196"/>
            <a:ext cx="17759276" cy="10679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60"/>
              </a:lnSpc>
            </a:pPr>
            <a:r>
              <a:rPr lang="en-US" b="true" sz="3000" spc="-54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Title: Conversational Health Agents: A Personalized Large Language Model-Powered Agent Framework</a:t>
            </a:r>
          </a:p>
          <a:p>
            <a:pPr algn="just">
              <a:lnSpc>
                <a:spcPts val="3360"/>
              </a:lnSpc>
            </a:pPr>
          </a:p>
          <a:p>
            <a:pPr algn="just">
              <a:lnSpc>
                <a:spcPts val="3360"/>
              </a:lnSpc>
            </a:pPr>
            <a:r>
              <a:rPr lang="en-US" b="true" sz="3000" spc="-54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Methodology:</a:t>
            </a: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</a:p>
          <a:p>
            <a:pPr algn="l" marL="647700" indent="-323850" lvl="1">
              <a:lnSpc>
                <a:spcPts val="3360"/>
              </a:lnSpc>
              <a:buFont typeface="Arial"/>
              <a:buChar char="•"/>
            </a:pP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</a:t>
            </a: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roposes a conversational health agent framework</a:t>
            </a: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powered by Large Language Models (LLMs).</a:t>
            </a:r>
          </a:p>
          <a:p>
            <a:pPr algn="l" marL="647700" indent="-323850" lvl="1">
              <a:lnSpc>
                <a:spcPts val="3360"/>
              </a:lnSpc>
              <a:buFont typeface="Arial"/>
              <a:buChar char="•"/>
            </a:pP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Uses </a:t>
            </a: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agent-based architecture where the LLM interacts with pati</a:t>
            </a: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ent data, h</a:t>
            </a: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ealth knowledge bases, and external tools.</a:t>
            </a:r>
          </a:p>
          <a:p>
            <a:pPr algn="l" marL="647700" indent="-323850" lvl="1">
              <a:lnSpc>
                <a:spcPts val="3360"/>
              </a:lnSpc>
              <a:buFont typeface="Arial"/>
              <a:buChar char="•"/>
            </a:pP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</a:t>
            </a: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tegrates personal health records, user preferences,</a:t>
            </a: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and contextual health information to generate personalized responses and recommendations.</a:t>
            </a:r>
          </a:p>
          <a:p>
            <a:pPr algn="just">
              <a:lnSpc>
                <a:spcPts val="3360"/>
              </a:lnSpc>
            </a:pPr>
          </a:p>
          <a:p>
            <a:pPr algn="just">
              <a:lnSpc>
                <a:spcPts val="3360"/>
              </a:lnSpc>
            </a:pPr>
            <a:r>
              <a:rPr lang="en-US" b="true" sz="3000" spc="-54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Observation</a:t>
            </a: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: </a:t>
            </a:r>
          </a:p>
          <a:p>
            <a:pPr algn="just" marL="647700" indent="-323850" lvl="1">
              <a:lnSpc>
                <a:spcPts val="3360"/>
              </a:lnSpc>
              <a:buFont typeface="Arial"/>
              <a:buChar char="•"/>
            </a:pP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Demonstrates how LLM-driven conversational agents can deliver personalized health guidance and patient engagement.</a:t>
            </a:r>
          </a:p>
          <a:p>
            <a:pPr algn="just" marL="647700" indent="-323850" lvl="1">
              <a:lnSpc>
                <a:spcPts val="3360"/>
              </a:lnSpc>
              <a:buFont typeface="Arial"/>
              <a:buChar char="•"/>
            </a:pP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However, the framework mainly focuses on general healthcare systems and lacks integration with traditional health models such as Ayurvedic Prakriti or Dinacharya concepts.</a:t>
            </a:r>
          </a:p>
          <a:p>
            <a:pPr algn="just" marL="647700" indent="-323850" lvl="1">
              <a:lnSpc>
                <a:spcPts val="3360"/>
              </a:lnSpc>
              <a:buFont typeface="Arial"/>
              <a:buChar char="•"/>
            </a:pP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Shows potential for LLM-based assistants that provide personalized lifestyle and wellness recommendations.</a:t>
            </a:r>
          </a:p>
          <a:p>
            <a:pPr algn="just">
              <a:lnSpc>
                <a:spcPts val="3360"/>
              </a:lnSpc>
            </a:pPr>
          </a:p>
          <a:p>
            <a:pPr algn="just">
              <a:lnSpc>
                <a:spcPts val="3360"/>
              </a:lnSpc>
            </a:pPr>
            <a:r>
              <a:rPr lang="en-US" b="true" sz="3000" spc="-54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Results</a:t>
            </a: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: </a:t>
            </a:r>
          </a:p>
          <a:p>
            <a:pPr algn="l" marL="647700" indent="-323850" lvl="1">
              <a:lnSpc>
                <a:spcPts val="3360"/>
              </a:lnSpc>
              <a:buFont typeface="Arial"/>
              <a:buChar char="•"/>
            </a:pP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</a:t>
            </a: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framework enables context-aware a</a:t>
            </a: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nd personalized healthcare interactions through conversational AI.</a:t>
            </a:r>
          </a:p>
          <a:p>
            <a:pPr algn="l" marL="647700" indent="-323850" lvl="1">
              <a:lnSpc>
                <a:spcPts val="3360"/>
              </a:lnSpc>
              <a:buFont typeface="Arial"/>
              <a:buChar char="•"/>
            </a:pP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Improves patient engagement, accessibility to health information, and decision support through natural language interfaces.</a:t>
            </a:r>
          </a:p>
          <a:p>
            <a:pPr algn="just">
              <a:lnSpc>
                <a:spcPts val="3360"/>
              </a:lnSpc>
            </a:pPr>
          </a:p>
          <a:p>
            <a:pPr algn="just">
              <a:lnSpc>
                <a:spcPts val="3360"/>
              </a:lnSpc>
            </a:pPr>
          </a:p>
          <a:p>
            <a:pPr algn="just" marL="0" indent="0" lvl="0">
              <a:lnSpc>
                <a:spcPts val="3360"/>
              </a:lnSpc>
            </a:pP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F1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64362" y="384196"/>
            <a:ext cx="17759276" cy="11012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60"/>
              </a:lnSpc>
            </a:pPr>
            <a:r>
              <a:rPr lang="en-US" b="true" sz="3000" spc="-54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Title: Arkangel AI: A Conversational Agent for Evidence-Based Medical Question Answering</a:t>
            </a:r>
          </a:p>
          <a:p>
            <a:pPr algn="just">
              <a:lnSpc>
                <a:spcPts val="3360"/>
              </a:lnSpc>
            </a:pPr>
          </a:p>
          <a:p>
            <a:pPr algn="just">
              <a:lnSpc>
                <a:spcPts val="3360"/>
              </a:lnSpc>
            </a:pPr>
            <a:r>
              <a:rPr lang="en-US" b="true" sz="3000" spc="-54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Methodology:</a:t>
            </a: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</a:p>
          <a:p>
            <a:pPr algn="l" marL="604521" indent="-302261" lvl="1">
              <a:lnSpc>
                <a:spcPts val="3136"/>
              </a:lnSpc>
              <a:buFont typeface="Arial"/>
              <a:buChar char="•"/>
            </a:pPr>
            <a:r>
              <a:rPr lang="en-US" sz="2800" spc="-5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Devel</a:t>
            </a:r>
            <a:r>
              <a:rPr lang="en-US" sz="2800" spc="-5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oped a multi-LLM conversational healthcare agent designed</a:t>
            </a:r>
            <a:r>
              <a:rPr lang="en-US" sz="2800" spc="-5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to answer medical questions u</a:t>
            </a:r>
            <a:r>
              <a:rPr lang="en-US" sz="2800" spc="-5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sin</a:t>
            </a:r>
            <a:r>
              <a:rPr lang="en-US" sz="2800" spc="-5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g evidence from biomedical literature.</a:t>
            </a:r>
          </a:p>
          <a:p>
            <a:pPr algn="l" marL="604521" indent="-302261" lvl="1">
              <a:lnSpc>
                <a:spcPts val="3136"/>
              </a:lnSpc>
              <a:buFont typeface="Arial"/>
              <a:buChar char="•"/>
            </a:pPr>
            <a:r>
              <a:rPr lang="en-US" sz="2800" spc="-5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system retrieves relevant medical documents from trust</a:t>
            </a:r>
            <a:r>
              <a:rPr lang="en-US" sz="2800" spc="-5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ed datab</a:t>
            </a:r>
            <a:r>
              <a:rPr lang="en-US" sz="2800" spc="-5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ases before generating responses, implementing an evidence-grounded retrieval pipeline.</a:t>
            </a:r>
          </a:p>
          <a:p>
            <a:pPr algn="l" marL="604521" indent="-302261" lvl="1">
              <a:lnSpc>
                <a:spcPts val="3136"/>
              </a:lnSpc>
              <a:buFont typeface="Arial"/>
              <a:buChar char="•"/>
            </a:pPr>
            <a:r>
              <a:rPr lang="en-US" sz="2800" spc="-5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Mul</a:t>
            </a:r>
            <a:r>
              <a:rPr lang="en-US" sz="2800" spc="-5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tiple specialized LLM components collaborate to perform query underst</a:t>
            </a:r>
            <a:r>
              <a:rPr lang="en-US" sz="2800" spc="-5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anding, document retrieval, reasoning, and answer generation.</a:t>
            </a:r>
          </a:p>
          <a:p>
            <a:pPr algn="l" marL="604521" indent="-302261" lvl="1">
              <a:lnSpc>
                <a:spcPts val="3136"/>
              </a:lnSpc>
              <a:buFont typeface="Arial"/>
              <a:buChar char="•"/>
            </a:pPr>
            <a:r>
              <a:rPr lang="en-US" sz="2800" spc="-5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architecture integrates medical knowledge sources and question-answer datasets such as MedQA and PubMedQA for evaluation.</a:t>
            </a:r>
          </a:p>
          <a:p>
            <a:pPr algn="just">
              <a:lnSpc>
                <a:spcPts val="3360"/>
              </a:lnSpc>
            </a:pPr>
          </a:p>
          <a:p>
            <a:pPr algn="just">
              <a:lnSpc>
                <a:spcPts val="3360"/>
              </a:lnSpc>
            </a:pPr>
            <a:r>
              <a:rPr lang="en-US" b="true" sz="3000" spc="-54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Observation</a:t>
            </a: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: </a:t>
            </a:r>
          </a:p>
          <a:p>
            <a:pPr algn="just" marL="604521" indent="-302261" lvl="1">
              <a:lnSpc>
                <a:spcPts val="3136"/>
              </a:lnSpc>
              <a:buFont typeface="Arial"/>
              <a:buChar char="•"/>
            </a:pPr>
            <a:r>
              <a:rPr lang="en-US" sz="2800" spc="-5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Retrieval-based evidence grounding significantly improves the factual reliability of medical AI systems.</a:t>
            </a:r>
          </a:p>
          <a:p>
            <a:pPr algn="just" marL="604521" indent="-302261" lvl="1">
              <a:lnSpc>
                <a:spcPts val="3136"/>
              </a:lnSpc>
              <a:buFont typeface="Arial"/>
              <a:buChar char="•"/>
            </a:pPr>
            <a:r>
              <a:rPr lang="en-US" sz="2800" spc="-5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Using multiple LLM modules for reasoning and verification improves the accuracy of answers compared to single-model architectures.</a:t>
            </a:r>
          </a:p>
          <a:p>
            <a:pPr algn="just" marL="604521" indent="-302261" lvl="1">
              <a:lnSpc>
                <a:spcPts val="3136"/>
              </a:lnSpc>
              <a:buFont typeface="Arial"/>
              <a:buChar char="•"/>
            </a:pPr>
            <a:r>
              <a:rPr lang="en-US" sz="2800" spc="-5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</a:t>
            </a:r>
            <a:r>
              <a:rPr lang="en-US" sz="2800" spc="-5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owever, such systems still require human medical oversight because incorrect medical recommendations can have serious consequences.</a:t>
            </a:r>
          </a:p>
          <a:p>
            <a:pPr algn="just">
              <a:lnSpc>
                <a:spcPts val="3360"/>
              </a:lnSpc>
            </a:pPr>
          </a:p>
          <a:p>
            <a:pPr algn="just">
              <a:lnSpc>
                <a:spcPts val="3360"/>
              </a:lnSpc>
            </a:pPr>
            <a:r>
              <a:rPr lang="en-US" b="true" sz="3000" spc="-54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Results</a:t>
            </a: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: </a:t>
            </a:r>
          </a:p>
          <a:p>
            <a:pPr algn="l" marL="604521" indent="-302261" lvl="1">
              <a:lnSpc>
                <a:spcPts val="3136"/>
              </a:lnSpc>
              <a:buFont typeface="Arial"/>
              <a:buChar char="•"/>
            </a:pPr>
            <a:r>
              <a:rPr lang="en-US" sz="2800" spc="-5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</a:t>
            </a:r>
            <a:r>
              <a:rPr lang="en-US" sz="2800" spc="-5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system achieve</a:t>
            </a:r>
            <a:r>
              <a:rPr lang="en-US" sz="2800" spc="-5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 approximately 90% accuracy on the MedQA dataset, outperforming several baseline medical QA systems.</a:t>
            </a:r>
          </a:p>
          <a:p>
            <a:pPr algn="l" marL="604521" indent="-302261" lvl="1">
              <a:lnSpc>
                <a:spcPts val="3136"/>
              </a:lnSpc>
              <a:buFont typeface="Arial"/>
              <a:buChar char="•"/>
            </a:pPr>
            <a:r>
              <a:rPr lang="en-US" sz="2800" spc="-5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Demonstrated i</a:t>
            </a:r>
            <a:r>
              <a:rPr lang="en-US" sz="2800" spc="-5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mproved medical reasoning capability and evidence-based response generation.</a:t>
            </a:r>
          </a:p>
          <a:p>
            <a:pPr algn="l" marL="604521" indent="-302261" lvl="1">
              <a:lnSpc>
                <a:spcPts val="3136"/>
              </a:lnSpc>
              <a:buFont typeface="Arial"/>
              <a:buChar char="•"/>
            </a:pPr>
            <a:r>
              <a:rPr lang="en-US" sz="2800" spc="-5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Shows strong potential for building AI-powered clinical assistants and healthcare decision support systems.</a:t>
            </a:r>
          </a:p>
          <a:p>
            <a:pPr algn="just">
              <a:lnSpc>
                <a:spcPts val="3360"/>
              </a:lnSpc>
            </a:pPr>
          </a:p>
          <a:p>
            <a:pPr algn="just">
              <a:lnSpc>
                <a:spcPts val="3360"/>
              </a:lnSpc>
            </a:pPr>
          </a:p>
          <a:p>
            <a:pPr algn="just" marL="0" indent="0" lvl="0">
              <a:lnSpc>
                <a:spcPts val="3360"/>
              </a:lnSpc>
            </a:pP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3D3A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410947" y="769896"/>
            <a:ext cx="2247079" cy="258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892"/>
              </a:lnSpc>
              <a:spcBef>
                <a:spcPct val="0"/>
              </a:spcBef>
            </a:pPr>
            <a:r>
              <a:rPr lang="en-US" sz="2150" spc="-3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04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64362" y="19050"/>
            <a:ext cx="17759276" cy="12025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71"/>
              </a:lnSpc>
            </a:pPr>
            <a:r>
              <a:rPr lang="en-US" b="true" sz="3099" spc="-55">
                <a:solidFill>
                  <a:srgbClr val="CEC4B7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Title: Healthcare Agent: Eliciting the Power of Large Language Models for Medical Consultation</a:t>
            </a:r>
          </a:p>
          <a:p>
            <a:pPr algn="just">
              <a:lnSpc>
                <a:spcPts val="3471"/>
              </a:lnSpc>
            </a:pPr>
          </a:p>
          <a:p>
            <a:pPr algn="just">
              <a:lnSpc>
                <a:spcPts val="3471"/>
              </a:lnSpc>
            </a:pPr>
            <a:r>
              <a:rPr lang="en-US" b="true" sz="3099" spc="-55">
                <a:solidFill>
                  <a:srgbClr val="CEC4B7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Methodology:</a:t>
            </a:r>
            <a:r>
              <a:rPr lang="en-US" sz="3099" spc="-55">
                <a:solidFill>
                  <a:srgbClr val="CEC4B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</a:p>
          <a:p>
            <a:pPr algn="l" marL="669289" indent="-334645" lvl="1">
              <a:lnSpc>
                <a:spcPts val="3471"/>
              </a:lnSpc>
              <a:buFont typeface="Arial"/>
              <a:buChar char="•"/>
            </a:pPr>
            <a:r>
              <a:rPr lang="en-US" sz="3099" spc="-55">
                <a:solidFill>
                  <a:srgbClr val="CEC4B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</a:t>
            </a:r>
            <a:r>
              <a:rPr lang="en-US" sz="3099" spc="-55">
                <a:solidFill>
                  <a:srgbClr val="CEC4B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roposes an LLM-based healthcare agent framework with three core components: Di</a:t>
            </a:r>
            <a:r>
              <a:rPr lang="en-US" sz="3099" spc="-55">
                <a:solidFill>
                  <a:srgbClr val="CEC4B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alogue, Memory, and Processing.</a:t>
            </a:r>
          </a:p>
          <a:p>
            <a:pPr algn="l" marL="669289" indent="-334645" lvl="1">
              <a:lnSpc>
                <a:spcPts val="3471"/>
              </a:lnSpc>
              <a:buFont typeface="Arial"/>
              <a:buChar char="•"/>
            </a:pPr>
            <a:r>
              <a:rPr lang="en-US" sz="3099" spc="-55">
                <a:solidFill>
                  <a:srgbClr val="CEC4B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Dialogue module manages medical conversations, diagnosis queries, and recommendations while ensuring ethical safety checks.</a:t>
            </a:r>
          </a:p>
          <a:p>
            <a:pPr algn="l" marL="669289" indent="-334645" lvl="1">
              <a:lnSpc>
                <a:spcPts val="3471"/>
              </a:lnSpc>
              <a:buFont typeface="Arial"/>
              <a:buChar char="•"/>
            </a:pPr>
            <a:r>
              <a:rPr lang="en-US" sz="3099" spc="-55">
                <a:solidFill>
                  <a:srgbClr val="CEC4B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Memory module stores conversation history and patient records to improve context understanding.</a:t>
            </a:r>
          </a:p>
          <a:p>
            <a:pPr algn="l" marL="669289" indent="-334645" lvl="1">
              <a:lnSpc>
                <a:spcPts val="3471"/>
              </a:lnSpc>
              <a:buFont typeface="Arial"/>
              <a:buChar char="•"/>
            </a:pPr>
            <a:r>
              <a:rPr lang="en-US" sz="3099" spc="-55">
                <a:solidFill>
                  <a:srgbClr val="CEC4B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Processing module summarizes consultations and generates medical reports.</a:t>
            </a:r>
          </a:p>
          <a:p>
            <a:pPr algn="just">
              <a:lnSpc>
                <a:spcPts val="3471"/>
              </a:lnSpc>
            </a:pPr>
          </a:p>
          <a:p>
            <a:pPr algn="just">
              <a:lnSpc>
                <a:spcPts val="3471"/>
              </a:lnSpc>
            </a:pPr>
            <a:r>
              <a:rPr lang="en-US" b="true" sz="3099" spc="-55">
                <a:solidFill>
                  <a:srgbClr val="CEC4B7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Observation</a:t>
            </a:r>
            <a:r>
              <a:rPr lang="en-US" sz="3099" spc="-55">
                <a:solidFill>
                  <a:srgbClr val="CEC4B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: </a:t>
            </a:r>
          </a:p>
          <a:p>
            <a:pPr algn="just" marL="669289" indent="-334645" lvl="1">
              <a:lnSpc>
                <a:spcPts val="3471"/>
              </a:lnSpc>
              <a:buFont typeface="Arial"/>
              <a:buChar char="•"/>
            </a:pPr>
            <a:r>
              <a:rPr lang="en-US" sz="3099" spc="-55">
                <a:solidFill>
                  <a:srgbClr val="CEC4B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Demonstrates how LLM agents can provide personalized health consultations through conversational interaction.</a:t>
            </a:r>
          </a:p>
          <a:p>
            <a:pPr algn="just" marL="669289" indent="-334645" lvl="1">
              <a:lnSpc>
                <a:spcPts val="3471"/>
              </a:lnSpc>
              <a:buFont typeface="Arial"/>
              <a:buChar char="•"/>
            </a:pPr>
            <a:r>
              <a:rPr lang="en-US" sz="3099" spc="-55">
                <a:solidFill>
                  <a:srgbClr val="CEC4B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However, the system mainly f</a:t>
            </a:r>
            <a:r>
              <a:rPr lang="en-US" sz="3099" spc="-55">
                <a:solidFill>
                  <a:srgbClr val="CEC4B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ocuses </a:t>
            </a:r>
            <a:r>
              <a:rPr lang="en-US" sz="3099" spc="-55">
                <a:solidFill>
                  <a:srgbClr val="CEC4B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on general medical consultation rather than preventive lifestyle guidance or traditional health frameworks.</a:t>
            </a:r>
          </a:p>
          <a:p>
            <a:pPr algn="just" marL="669289" indent="-334645" lvl="1">
              <a:lnSpc>
                <a:spcPts val="3471"/>
              </a:lnSpc>
              <a:buFont typeface="Arial"/>
              <a:buChar char="•"/>
            </a:pPr>
            <a:r>
              <a:rPr lang="en-US" sz="3099" spc="-55">
                <a:solidFill>
                  <a:srgbClr val="CEC4B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Indicates the potential for extending LLM healthcare agents to personalized wellness systems such as Ayurvedic Dinacharya recommendation platforms.</a:t>
            </a:r>
          </a:p>
          <a:p>
            <a:pPr algn="just">
              <a:lnSpc>
                <a:spcPts val="3471"/>
              </a:lnSpc>
            </a:pPr>
          </a:p>
          <a:p>
            <a:pPr algn="just">
              <a:lnSpc>
                <a:spcPts val="3471"/>
              </a:lnSpc>
            </a:pPr>
            <a:r>
              <a:rPr lang="en-US" b="true" sz="3099" spc="-55">
                <a:solidFill>
                  <a:srgbClr val="CEC4B7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Results</a:t>
            </a:r>
            <a:r>
              <a:rPr lang="en-US" sz="3099" spc="-55">
                <a:solidFill>
                  <a:srgbClr val="CEC4B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: </a:t>
            </a:r>
          </a:p>
          <a:p>
            <a:pPr algn="l" marL="669289" indent="-334645" lvl="1">
              <a:lnSpc>
                <a:spcPts val="3471"/>
              </a:lnSpc>
              <a:buFont typeface="Arial"/>
              <a:buChar char="•"/>
            </a:pPr>
            <a:r>
              <a:rPr lang="en-US" sz="3099" spc="-55">
                <a:solidFill>
                  <a:srgbClr val="CEC4B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proposed healthcare agent s</a:t>
            </a:r>
            <a:r>
              <a:rPr lang="en-US" sz="3099" spc="-55">
                <a:solidFill>
                  <a:srgbClr val="CEC4B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ignificantly improved inquiry quality, response accuracy, and safety compared to standard LLMs.</a:t>
            </a:r>
          </a:p>
          <a:p>
            <a:pPr algn="l" marL="669289" indent="-334645" lvl="1">
              <a:lnSpc>
                <a:spcPts val="3471"/>
              </a:lnSpc>
              <a:buFont typeface="Arial"/>
              <a:buChar char="•"/>
            </a:pPr>
            <a:r>
              <a:rPr lang="en-US" sz="3099" spc="-55">
                <a:solidFill>
                  <a:srgbClr val="CEC4B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Evaluations by seven doctors and automated testing confirmed higher diagno</a:t>
            </a:r>
            <a:r>
              <a:rPr lang="en-US" sz="3099" spc="-55">
                <a:solidFill>
                  <a:srgbClr val="CEC4B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stic accuracy and better patient interaction quality.</a:t>
            </a:r>
          </a:p>
          <a:p>
            <a:pPr algn="l" marL="669289" indent="-334645" lvl="1">
              <a:lnSpc>
                <a:spcPts val="3471"/>
              </a:lnSpc>
              <a:buFont typeface="Arial"/>
              <a:buChar char="•"/>
            </a:pPr>
          </a:p>
          <a:p>
            <a:pPr algn="just">
              <a:lnSpc>
                <a:spcPts val="3471"/>
              </a:lnSpc>
            </a:pPr>
          </a:p>
          <a:p>
            <a:pPr algn="just">
              <a:lnSpc>
                <a:spcPts val="3471"/>
              </a:lnSpc>
            </a:pPr>
          </a:p>
          <a:p>
            <a:pPr algn="just" marL="0" indent="0" lvl="0">
              <a:lnSpc>
                <a:spcPts val="3471"/>
              </a:lnSpc>
            </a:p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solidFill>
          <a:srgbClr val="F1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64362" y="295705"/>
            <a:ext cx="17759276" cy="11541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60"/>
              </a:lnSpc>
            </a:pPr>
            <a:r>
              <a:rPr lang="en-US" b="true" sz="3000" spc="-54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MedRAG: Enhancing Retrieval-Augmented Generation with Knowledge Graph-Elicited Reasoning for Healthcare Copilot</a:t>
            </a:r>
          </a:p>
          <a:p>
            <a:pPr algn="just">
              <a:lnSpc>
                <a:spcPts val="3360"/>
              </a:lnSpc>
            </a:pPr>
          </a:p>
          <a:p>
            <a:pPr algn="just">
              <a:lnSpc>
                <a:spcPts val="3360"/>
              </a:lnSpc>
            </a:pPr>
            <a:r>
              <a:rPr lang="en-US" b="true" sz="3000" spc="-54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Methodology:</a:t>
            </a: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</a:p>
          <a:p>
            <a:pPr algn="l" marL="647700" indent="-323850" lvl="1">
              <a:lnSpc>
                <a:spcPts val="3360"/>
              </a:lnSpc>
              <a:buFont typeface="Arial"/>
              <a:buChar char="•"/>
            </a:pP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Propo</a:t>
            </a: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ses MedRAG, a healthcare decision-support system that combines Retrieval-Augmented Generation (RAG) with Knowledge Graph (KG) reasoning.</a:t>
            </a:r>
          </a:p>
          <a:p>
            <a:pPr algn="l" marL="647700" indent="-323850" lvl="1">
              <a:lnSpc>
                <a:spcPts val="3360"/>
              </a:lnSpc>
              <a:buFont typeface="Arial"/>
              <a:buChar char="•"/>
            </a:pP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system retrieves</a:t>
            </a: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relevant Electronic Health Records (EHR) and integrates them with a four-tier hierarchical diagnostic knowledge graph repr</a:t>
            </a: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es</a:t>
            </a: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enting relationships between diseases and symptoms.</a:t>
            </a:r>
          </a:p>
          <a:p>
            <a:pPr algn="l" marL="647700" indent="-323850" lvl="1">
              <a:lnSpc>
                <a:spcPts val="3360"/>
              </a:lnSpc>
              <a:buFont typeface="Arial"/>
              <a:buChar char="•"/>
            </a:pP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 Large Language Model (LLM) then performs reasoning over</a:t>
            </a: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the retrieved medical knowledge to generate diagnosis suggestions and treatment recommendations.</a:t>
            </a:r>
          </a:p>
          <a:p>
            <a:pPr algn="just">
              <a:lnSpc>
                <a:spcPts val="3360"/>
              </a:lnSpc>
            </a:pPr>
          </a:p>
          <a:p>
            <a:pPr algn="just">
              <a:lnSpc>
                <a:spcPts val="3360"/>
              </a:lnSpc>
            </a:pPr>
            <a:r>
              <a:rPr lang="en-US" b="true" sz="3000" spc="-54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Observation</a:t>
            </a: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: </a:t>
            </a:r>
          </a:p>
          <a:p>
            <a:pPr algn="just" marL="647700" indent="-323850" lvl="1">
              <a:lnSpc>
                <a:spcPts val="3360"/>
              </a:lnSpc>
              <a:buFont typeface="Arial"/>
              <a:buChar char="•"/>
            </a:pP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Demonstrates that combining LLMs with structured medical knowledge graphs significantly improves medical reasoning and diagnostic support.</a:t>
            </a:r>
          </a:p>
          <a:p>
            <a:pPr algn="just" marL="647700" indent="-323850" lvl="1">
              <a:lnSpc>
                <a:spcPts val="3360"/>
              </a:lnSpc>
              <a:buFont typeface="Arial"/>
              <a:buChar char="•"/>
            </a:pP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However, the framework focuses mainly on clinical diagnosis and EHR-based healthcare assistance rather than lifestyle-based preventive health systems.</a:t>
            </a:r>
          </a:p>
          <a:p>
            <a:pPr algn="just" marL="647700" indent="-323850" lvl="1">
              <a:lnSpc>
                <a:spcPts val="3360"/>
              </a:lnSpc>
              <a:buFont typeface="Arial"/>
              <a:buChar char="•"/>
            </a:pP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Sugg</a:t>
            </a: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ests potential for knowledge-grounded AI assistants that integrate structured medical knowledge with personalized health recommendation systems.</a:t>
            </a:r>
          </a:p>
          <a:p>
            <a:pPr algn="just">
              <a:lnSpc>
                <a:spcPts val="3360"/>
              </a:lnSpc>
            </a:pPr>
          </a:p>
          <a:p>
            <a:pPr algn="just">
              <a:lnSpc>
                <a:spcPts val="3360"/>
              </a:lnSpc>
            </a:pPr>
            <a:r>
              <a:rPr lang="en-US" b="true" sz="3000" spc="-54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Results</a:t>
            </a: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: </a:t>
            </a:r>
          </a:p>
          <a:p>
            <a:pPr algn="l" marL="647700" indent="-323850" lvl="1">
              <a:lnSpc>
                <a:spcPts val="3360"/>
              </a:lnSpc>
              <a:buFont typeface="Arial"/>
              <a:buChar char="•"/>
            </a:pP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Evaluated</a:t>
            </a: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on DDXPlus dataset and a chronic pain diagnostic dataset</a:t>
            </a: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(CPDD) from Tan Tock Seng Hospital.</a:t>
            </a:r>
          </a:p>
          <a:p>
            <a:pPr algn="l" marL="647700" indent="-323850" lvl="1">
              <a:lnSpc>
                <a:spcPts val="3360"/>
              </a:lnSpc>
              <a:buFont typeface="Arial"/>
              <a:buChar char="•"/>
            </a:pP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MedRAG outperformed existing RAG-based healthcare models, produc</a:t>
            </a: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ing</a:t>
            </a: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more accurate diagnostic insights.</a:t>
            </a:r>
          </a:p>
          <a:p>
            <a:pPr algn="l">
              <a:lnSpc>
                <a:spcPts val="3360"/>
              </a:lnSpc>
            </a:pPr>
          </a:p>
          <a:p>
            <a:pPr algn="just">
              <a:lnSpc>
                <a:spcPts val="3360"/>
              </a:lnSpc>
            </a:pPr>
          </a:p>
          <a:p>
            <a:pPr algn="just">
              <a:lnSpc>
                <a:spcPts val="3360"/>
              </a:lnSpc>
            </a:pPr>
          </a:p>
          <a:p>
            <a:pPr algn="just" marL="0" indent="0" lvl="0">
              <a:lnSpc>
                <a:spcPts val="3360"/>
              </a:lnSpc>
            </a:p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solidFill>
          <a:srgbClr val="CEC4B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64362" y="295705"/>
            <a:ext cx="17759276" cy="7307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60"/>
              </a:lnSpc>
            </a:pPr>
            <a:r>
              <a:rPr lang="en-US" b="true" sz="3000" spc="-54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Title: Large Language Models for Recommendation Systems</a:t>
            </a:r>
          </a:p>
          <a:p>
            <a:pPr algn="just">
              <a:lnSpc>
                <a:spcPts val="3360"/>
              </a:lnSpc>
            </a:pPr>
          </a:p>
          <a:p>
            <a:pPr algn="just">
              <a:lnSpc>
                <a:spcPts val="3360"/>
              </a:lnSpc>
            </a:pPr>
            <a:r>
              <a:rPr lang="en-US" b="true" sz="3000" spc="-54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Methodology:</a:t>
            </a: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</a:p>
          <a:p>
            <a:pPr algn="just" marL="647700" indent="-323850" lvl="1">
              <a:lnSpc>
                <a:spcPts val="3360"/>
              </a:lnSpc>
              <a:buFont typeface="Arial"/>
              <a:buChar char="•"/>
            </a:pP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Surv</a:t>
            </a: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ey of LLM-driven recommendation archi</a:t>
            </a: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tectures</a:t>
            </a:r>
          </a:p>
          <a:p>
            <a:pPr algn="just" marL="647700" indent="-323850" lvl="1">
              <a:lnSpc>
                <a:spcPts val="3360"/>
              </a:lnSpc>
              <a:buFont typeface="Arial"/>
              <a:buChar char="•"/>
            </a:pP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Candidate generation, ranking, and conver</a:t>
            </a: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</a:t>
            </a: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ational recommendation models</a:t>
            </a:r>
          </a:p>
          <a:p>
            <a:pPr algn="just" marL="647700" indent="-323850" lvl="1">
              <a:lnSpc>
                <a:spcPts val="3360"/>
              </a:lnSpc>
              <a:buFont typeface="Arial"/>
              <a:buChar char="•"/>
            </a:pP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Integration of</a:t>
            </a: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contextual user data and historical interactions</a:t>
            </a:r>
          </a:p>
          <a:p>
            <a:pPr algn="just">
              <a:lnSpc>
                <a:spcPts val="3360"/>
              </a:lnSpc>
            </a:pPr>
          </a:p>
          <a:p>
            <a:pPr algn="just">
              <a:lnSpc>
                <a:spcPts val="3360"/>
              </a:lnSpc>
            </a:pPr>
            <a:r>
              <a:rPr lang="en-US" b="true" sz="3000" spc="-54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Observation</a:t>
            </a: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: </a:t>
            </a:r>
          </a:p>
          <a:p>
            <a:pPr algn="just" marL="647700" indent="-323850" lvl="1">
              <a:lnSpc>
                <a:spcPts val="3360"/>
              </a:lnSpc>
              <a:buFont typeface="Arial"/>
              <a:buChar char="•"/>
            </a:pP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LLMs enable deeper contextual understanding of user preferences</a:t>
            </a:r>
          </a:p>
          <a:p>
            <a:pPr algn="just" marL="647700" indent="-323850" lvl="1">
              <a:lnSpc>
                <a:spcPts val="3360"/>
              </a:lnSpc>
              <a:buFont typeface="Arial"/>
              <a:buChar char="•"/>
            </a:pP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Improve explainability and conversational interaction</a:t>
            </a:r>
          </a:p>
          <a:p>
            <a:pPr algn="just">
              <a:lnSpc>
                <a:spcPts val="3360"/>
              </a:lnSpc>
            </a:pPr>
          </a:p>
          <a:p>
            <a:pPr algn="just">
              <a:lnSpc>
                <a:spcPts val="3360"/>
              </a:lnSpc>
            </a:pPr>
            <a:r>
              <a:rPr lang="en-US" b="true" sz="3000" spc="-54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Results</a:t>
            </a: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: </a:t>
            </a:r>
          </a:p>
          <a:p>
            <a:pPr algn="just" marL="647700" indent="-323850" lvl="1">
              <a:lnSpc>
                <a:spcPts val="3360"/>
              </a:lnSpc>
              <a:buFont typeface="Arial"/>
              <a:buChar char="•"/>
            </a:pP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Hybrid</a:t>
            </a: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LLM + traditi</a:t>
            </a: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onal recommendation models improve recommendation performance</a:t>
            </a:r>
          </a:p>
          <a:p>
            <a:pPr algn="just">
              <a:lnSpc>
                <a:spcPts val="3360"/>
              </a:lnSpc>
            </a:pPr>
          </a:p>
          <a:p>
            <a:pPr algn="just">
              <a:lnSpc>
                <a:spcPts val="3360"/>
              </a:lnSpc>
            </a:pPr>
          </a:p>
          <a:p>
            <a:pPr algn="just">
              <a:lnSpc>
                <a:spcPts val="3360"/>
              </a:lnSpc>
            </a:pPr>
          </a:p>
          <a:p>
            <a:pPr algn="just" marL="0" indent="0" lvl="0">
              <a:lnSpc>
                <a:spcPts val="3360"/>
              </a:lnSpc>
            </a:pP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bg>
      <p:bgPr>
        <a:solidFill>
          <a:srgbClr val="F1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64362" y="295705"/>
            <a:ext cx="17759276" cy="6869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60"/>
              </a:lnSpc>
            </a:pPr>
            <a:r>
              <a:rPr lang="en-US" b="true" sz="3000" spc="-54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Title: Context-Aware Recommender Systems: A Review and Future Challenges </a:t>
            </a:r>
          </a:p>
          <a:p>
            <a:pPr algn="just">
              <a:lnSpc>
                <a:spcPts val="3360"/>
              </a:lnSpc>
            </a:pPr>
          </a:p>
          <a:p>
            <a:pPr algn="just">
              <a:lnSpc>
                <a:spcPts val="3360"/>
              </a:lnSpc>
            </a:pPr>
            <a:r>
              <a:rPr lang="en-US" b="true" sz="3000" spc="-54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Methodology:</a:t>
            </a: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</a:p>
          <a:p>
            <a:pPr algn="l" marL="647700" indent="-323850" lvl="1">
              <a:lnSpc>
                <a:spcPts val="3360"/>
              </a:lnSpc>
              <a:buFont typeface="Arial"/>
              <a:buChar char="•"/>
            </a:pP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Incorp</a:t>
            </a: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orates con</a:t>
            </a: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textual variables such as time, location, and activity</a:t>
            </a:r>
          </a:p>
          <a:p>
            <a:pPr algn="l" marL="647700" indent="-323850" lvl="1">
              <a:lnSpc>
                <a:spcPts val="3360"/>
              </a:lnSpc>
              <a:buFont typeface="Arial"/>
              <a:buChar char="•"/>
            </a:pP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Use</a:t>
            </a: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 m</a:t>
            </a: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atrix factorization, deep learning,</a:t>
            </a: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and hybrid models</a:t>
            </a:r>
          </a:p>
          <a:p>
            <a:pPr algn="just">
              <a:lnSpc>
                <a:spcPts val="3360"/>
              </a:lnSpc>
            </a:pPr>
          </a:p>
          <a:p>
            <a:pPr algn="just">
              <a:lnSpc>
                <a:spcPts val="3360"/>
              </a:lnSpc>
            </a:pPr>
            <a:r>
              <a:rPr lang="en-US" b="true" sz="3000" spc="-54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Observation</a:t>
            </a: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: </a:t>
            </a:r>
          </a:p>
          <a:p>
            <a:pPr algn="just" marL="647700" indent="-323850" lvl="1">
              <a:lnSpc>
                <a:spcPts val="3360"/>
              </a:lnSpc>
              <a:buFont typeface="Arial"/>
              <a:buChar char="•"/>
            </a:pP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Context improves personalization accuracy</a:t>
            </a:r>
          </a:p>
          <a:p>
            <a:pPr algn="just" marL="647700" indent="-323850" lvl="1">
              <a:lnSpc>
                <a:spcPts val="3360"/>
              </a:lnSpc>
              <a:buFont typeface="Arial"/>
              <a:buChar char="•"/>
            </a:pP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Important for dynamic recommendation environments</a:t>
            </a:r>
          </a:p>
          <a:p>
            <a:pPr algn="just">
              <a:lnSpc>
                <a:spcPts val="3360"/>
              </a:lnSpc>
            </a:pPr>
          </a:p>
          <a:p>
            <a:pPr algn="just">
              <a:lnSpc>
                <a:spcPts val="3360"/>
              </a:lnSpc>
            </a:pPr>
            <a:r>
              <a:rPr lang="en-US" b="true" sz="3000" spc="-54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Results</a:t>
            </a: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: </a:t>
            </a:r>
          </a:p>
          <a:p>
            <a:pPr algn="l" marL="647700" indent="-323850" lvl="1">
              <a:lnSpc>
                <a:spcPts val="3360"/>
              </a:lnSpc>
              <a:buFont typeface="Arial"/>
              <a:buChar char="•"/>
            </a:pP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Systems using contextual data outperform traditional recommenders</a:t>
            </a:r>
          </a:p>
          <a:p>
            <a:pPr algn="l">
              <a:lnSpc>
                <a:spcPts val="3360"/>
              </a:lnSpc>
            </a:pPr>
          </a:p>
          <a:p>
            <a:pPr algn="just">
              <a:lnSpc>
                <a:spcPts val="3360"/>
              </a:lnSpc>
            </a:pPr>
          </a:p>
          <a:p>
            <a:pPr algn="just">
              <a:lnSpc>
                <a:spcPts val="3360"/>
              </a:lnSpc>
            </a:pPr>
          </a:p>
          <a:p>
            <a:pPr algn="just" marL="0" indent="0" lvl="0">
              <a:lnSpc>
                <a:spcPts val="3360"/>
              </a:lnSpc>
            </a:pP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bg>
      <p:bgPr>
        <a:solidFill>
          <a:srgbClr val="CEC4B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64362" y="295705"/>
            <a:ext cx="17759276" cy="6450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60"/>
              </a:lnSpc>
            </a:pPr>
            <a:r>
              <a:rPr lang="en-US" b="true" sz="3000" spc="-54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Title: Deep Learning Based Health Recommender Systems: A Systematic Review </a:t>
            </a:r>
          </a:p>
          <a:p>
            <a:pPr algn="just">
              <a:lnSpc>
                <a:spcPts val="3360"/>
              </a:lnSpc>
            </a:pPr>
          </a:p>
          <a:p>
            <a:pPr algn="just">
              <a:lnSpc>
                <a:spcPts val="3360"/>
              </a:lnSpc>
            </a:pPr>
            <a:r>
              <a:rPr lang="en-US" b="true" sz="3000" spc="-54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Methodology:</a:t>
            </a: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</a:p>
          <a:p>
            <a:pPr algn="l" marL="647700" indent="-323850" lvl="1">
              <a:lnSpc>
                <a:spcPts val="3360"/>
              </a:lnSpc>
              <a:buFont typeface="Arial"/>
              <a:buChar char="•"/>
            </a:pP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Us</a:t>
            </a: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es d</a:t>
            </a: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eep learning models for health recommendations</a:t>
            </a:r>
          </a:p>
          <a:p>
            <a:pPr algn="l" marL="647700" indent="-323850" lvl="1">
              <a:lnSpc>
                <a:spcPts val="3360"/>
              </a:lnSpc>
              <a:buFont typeface="Arial"/>
              <a:buChar char="•"/>
            </a:pP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Integrate</a:t>
            </a: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 we</a:t>
            </a: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arable data, health records,</a:t>
            </a: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and patient feedback</a:t>
            </a:r>
          </a:p>
          <a:p>
            <a:pPr algn="just">
              <a:lnSpc>
                <a:spcPts val="3360"/>
              </a:lnSpc>
            </a:pPr>
          </a:p>
          <a:p>
            <a:pPr algn="just">
              <a:lnSpc>
                <a:spcPts val="3360"/>
              </a:lnSpc>
            </a:pPr>
            <a:r>
              <a:rPr lang="en-US" b="true" sz="3000" spc="-54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Observation</a:t>
            </a: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: </a:t>
            </a:r>
          </a:p>
          <a:p>
            <a:pPr algn="just" marL="647700" indent="-323850" lvl="1">
              <a:lnSpc>
                <a:spcPts val="3360"/>
              </a:lnSpc>
              <a:buFont typeface="Arial"/>
              <a:buChar char="•"/>
            </a:pP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Multimodal health data improves personalization</a:t>
            </a:r>
          </a:p>
          <a:p>
            <a:pPr algn="just">
              <a:lnSpc>
                <a:spcPts val="3360"/>
              </a:lnSpc>
            </a:pPr>
          </a:p>
          <a:p>
            <a:pPr algn="just">
              <a:lnSpc>
                <a:spcPts val="3360"/>
              </a:lnSpc>
            </a:pPr>
            <a:r>
              <a:rPr lang="en-US" b="true" sz="3000" spc="-54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Results</a:t>
            </a: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: </a:t>
            </a:r>
          </a:p>
          <a:p>
            <a:pPr algn="l" marL="647700" indent="-323850" lvl="1">
              <a:lnSpc>
                <a:spcPts val="3360"/>
              </a:lnSpc>
              <a:buFont typeface="Arial"/>
              <a:buChar char="•"/>
            </a:pPr>
            <a:r>
              <a:rPr lang="en-US" sz="3000" spc="-5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Deep learning recommender systems outperform rule-based health recommendation approaches</a:t>
            </a:r>
          </a:p>
          <a:p>
            <a:pPr algn="l">
              <a:lnSpc>
                <a:spcPts val="3360"/>
              </a:lnSpc>
            </a:pPr>
          </a:p>
          <a:p>
            <a:pPr algn="just">
              <a:lnSpc>
                <a:spcPts val="3360"/>
              </a:lnSpc>
            </a:pPr>
          </a:p>
          <a:p>
            <a:pPr algn="just">
              <a:lnSpc>
                <a:spcPts val="3360"/>
              </a:lnSpc>
            </a:pPr>
          </a:p>
          <a:p>
            <a:pPr algn="just" marL="0" indent="0" lvl="0">
              <a:lnSpc>
                <a:spcPts val="3360"/>
              </a:lnSpc>
            </a:pP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bg>
      <p:bgPr>
        <a:solidFill>
          <a:srgbClr val="3D3A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64362" y="295705"/>
            <a:ext cx="17759276" cy="6450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60"/>
              </a:lnSpc>
            </a:pPr>
            <a:r>
              <a:rPr lang="en-US" b="true" sz="3000" spc="-54">
                <a:solidFill>
                  <a:srgbClr val="CEC4B7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Title: </a:t>
            </a:r>
            <a:r>
              <a:rPr lang="en-US" b="true" sz="3000" spc="-54">
                <a:solidFill>
                  <a:srgbClr val="CEC4B7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Reinforcement Learning for Recommendation Systems  </a:t>
            </a:r>
          </a:p>
          <a:p>
            <a:pPr algn="just">
              <a:lnSpc>
                <a:spcPts val="3360"/>
              </a:lnSpc>
            </a:pPr>
          </a:p>
          <a:p>
            <a:pPr algn="just">
              <a:lnSpc>
                <a:spcPts val="3360"/>
              </a:lnSpc>
            </a:pPr>
            <a:r>
              <a:rPr lang="en-US" b="true" sz="3000" spc="-54">
                <a:solidFill>
                  <a:srgbClr val="CEC4B7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Methodology:</a:t>
            </a:r>
            <a:r>
              <a:rPr lang="en-US" sz="3000" spc="-54">
                <a:solidFill>
                  <a:srgbClr val="CEC4B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</a:p>
          <a:p>
            <a:pPr algn="l" marL="647700" indent="-323850" lvl="1">
              <a:lnSpc>
                <a:spcPts val="3360"/>
              </a:lnSpc>
              <a:buFont typeface="Arial"/>
              <a:buChar char="•"/>
            </a:pPr>
            <a:r>
              <a:rPr lang="en-US" sz="3000" spc="-54">
                <a:solidFill>
                  <a:srgbClr val="CEC4B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Us</a:t>
            </a:r>
            <a:r>
              <a:rPr lang="en-US" sz="3000" spc="-54">
                <a:solidFill>
                  <a:srgbClr val="CEC4B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es reinforc</a:t>
            </a:r>
            <a:r>
              <a:rPr lang="en-US" sz="3000" spc="-54">
                <a:solidFill>
                  <a:srgbClr val="CEC4B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ement learning to adapt recommendations over time</a:t>
            </a:r>
          </a:p>
          <a:p>
            <a:pPr algn="l" marL="647700" indent="-323850" lvl="1">
              <a:lnSpc>
                <a:spcPts val="3360"/>
              </a:lnSpc>
              <a:buFont typeface="Arial"/>
              <a:buChar char="•"/>
            </a:pPr>
            <a:r>
              <a:rPr lang="en-US" sz="3000" spc="-54">
                <a:solidFill>
                  <a:srgbClr val="CEC4B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</a:t>
            </a:r>
            <a:r>
              <a:rPr lang="en-US" sz="3000" spc="-54">
                <a:solidFill>
                  <a:srgbClr val="CEC4B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</a:t>
            </a:r>
            <a:r>
              <a:rPr lang="en-US" sz="3000" spc="-54">
                <a:solidFill>
                  <a:srgbClr val="CEC4B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arns optimal recommend</a:t>
            </a:r>
            <a:r>
              <a:rPr lang="en-US" sz="3000" spc="-54">
                <a:solidFill>
                  <a:srgbClr val="CEC4B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ation policies based on user feedback</a:t>
            </a:r>
          </a:p>
          <a:p>
            <a:pPr algn="just">
              <a:lnSpc>
                <a:spcPts val="3360"/>
              </a:lnSpc>
            </a:pPr>
          </a:p>
          <a:p>
            <a:pPr algn="just">
              <a:lnSpc>
                <a:spcPts val="3360"/>
              </a:lnSpc>
            </a:pPr>
            <a:r>
              <a:rPr lang="en-US" b="true" sz="3000" spc="-54">
                <a:solidFill>
                  <a:srgbClr val="CEC4B7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Observation</a:t>
            </a:r>
            <a:r>
              <a:rPr lang="en-US" sz="3000" spc="-54">
                <a:solidFill>
                  <a:srgbClr val="CEC4B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: </a:t>
            </a:r>
          </a:p>
          <a:p>
            <a:pPr algn="just" marL="647700" indent="-323850" lvl="1">
              <a:lnSpc>
                <a:spcPts val="3360"/>
              </a:lnSpc>
              <a:buFont typeface="Arial"/>
              <a:buChar char="•"/>
            </a:pPr>
            <a:r>
              <a:rPr lang="en-US" sz="3000" spc="-54">
                <a:solidFill>
                  <a:srgbClr val="CEC4B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Effective for dynamic and evolving user preferences</a:t>
            </a:r>
          </a:p>
          <a:p>
            <a:pPr algn="just">
              <a:lnSpc>
                <a:spcPts val="3360"/>
              </a:lnSpc>
            </a:pPr>
          </a:p>
          <a:p>
            <a:pPr algn="just">
              <a:lnSpc>
                <a:spcPts val="3360"/>
              </a:lnSpc>
            </a:pPr>
            <a:r>
              <a:rPr lang="en-US" b="true" sz="3000" spc="-54">
                <a:solidFill>
                  <a:srgbClr val="CEC4B7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Results</a:t>
            </a:r>
            <a:r>
              <a:rPr lang="en-US" sz="3000" spc="-54">
                <a:solidFill>
                  <a:srgbClr val="CEC4B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: </a:t>
            </a:r>
          </a:p>
          <a:p>
            <a:pPr algn="l" marL="647700" indent="-323850" lvl="1">
              <a:lnSpc>
                <a:spcPts val="3360"/>
              </a:lnSpc>
              <a:buFont typeface="Arial"/>
              <a:buChar char="•"/>
            </a:pPr>
            <a:r>
              <a:rPr lang="en-US" sz="3000" spc="-54">
                <a:solidFill>
                  <a:srgbClr val="CEC4B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Improves long-term user engagement compared to static recommendation systems</a:t>
            </a:r>
          </a:p>
          <a:p>
            <a:pPr algn="l">
              <a:lnSpc>
                <a:spcPts val="3360"/>
              </a:lnSpc>
            </a:pPr>
          </a:p>
          <a:p>
            <a:pPr algn="just">
              <a:lnSpc>
                <a:spcPts val="3360"/>
              </a:lnSpc>
            </a:pPr>
          </a:p>
          <a:p>
            <a:pPr algn="just">
              <a:lnSpc>
                <a:spcPts val="3360"/>
              </a:lnSpc>
            </a:pPr>
          </a:p>
          <a:p>
            <a:pPr algn="just" marL="0" indent="0" lvl="0">
              <a:lnSpc>
                <a:spcPts val="3360"/>
              </a:lnSpc>
            </a:pP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EC4B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0" y="0"/>
          <a:ext cx="7715250" cy="8229600"/>
        </p:xfrm>
        <a:graphic>
          <a:graphicData uri="http://schemas.openxmlformats.org/presentationml/2006/ole">
            <p:oleObj imgW="9359900" imgH="98679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0" y="0"/>
          <a:ext cx="18288000" cy="3238500"/>
        </p:xfrm>
        <a:graphic>
          <a:graphicData uri="http://schemas.openxmlformats.org/presentationml/2006/ole">
            <p:oleObj imgW="21945600" imgH="68961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>
  <p:cSld>
    <p:bg>
      <p:bgPr>
        <a:solidFill>
          <a:srgbClr val="3D3A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H="true" flipV="true">
            <a:off x="11561359" y="-340517"/>
            <a:ext cx="0" cy="11121442"/>
          </a:xfrm>
          <a:prstGeom prst="line">
            <a:avLst/>
          </a:prstGeom>
          <a:ln cap="flat" w="38100">
            <a:solidFill>
              <a:srgbClr val="FFFFFF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H="true" flipV="true">
            <a:off x="9144000" y="-340517"/>
            <a:ext cx="19050" cy="10742855"/>
          </a:xfrm>
          <a:prstGeom prst="line">
            <a:avLst/>
          </a:prstGeom>
          <a:ln cap="flat" w="38100">
            <a:solidFill>
              <a:srgbClr val="FFFFFF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V="true">
            <a:off x="15586290" y="-340517"/>
            <a:ext cx="0" cy="10968034"/>
          </a:xfrm>
          <a:prstGeom prst="line">
            <a:avLst/>
          </a:prstGeom>
          <a:ln cap="flat" w="38100">
            <a:solidFill>
              <a:srgbClr val="FFFFFF">
                <a:alpha val="784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028700" y="2439659"/>
            <a:ext cx="15032463" cy="5417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5135" indent="-337567" lvl="1">
              <a:lnSpc>
                <a:spcPts val="3502"/>
              </a:lnSpc>
              <a:buFont typeface="Arial"/>
              <a:buChar char="•"/>
            </a:pPr>
            <a:r>
              <a:rPr lang="en-US" b="true" sz="3127" spc="-56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Design and Implement a Dos</a:t>
            </a:r>
            <a:r>
              <a:rPr lang="en-US" b="true" sz="3127" spc="-56" strike="noStrike" u="non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ha-</a:t>
            </a:r>
            <a:r>
              <a:rPr lang="en-US" b="true" sz="3127" spc="-56" strike="noStrike" u="non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</a:t>
            </a:r>
            <a:r>
              <a:rPr lang="en-US" b="true" sz="3127" spc="-56" strike="noStrike" u="non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w</a:t>
            </a:r>
            <a:r>
              <a:rPr lang="en-US" b="true" sz="3127" spc="-56" strike="noStrike" u="non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</a:t>
            </a:r>
            <a:r>
              <a:rPr lang="en-US" b="true" sz="3127" spc="-56" strike="noStrike" u="non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re Personalizat</a:t>
            </a:r>
            <a:r>
              <a:rPr lang="en-US" b="true" sz="3127" spc="-56" strike="noStrike" u="non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</a:t>
            </a:r>
            <a:r>
              <a:rPr lang="en-US" b="true" sz="3127" spc="-56" strike="noStrike" u="non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</a:t>
            </a:r>
            <a:r>
              <a:rPr lang="en-US" b="true" sz="3127" spc="-56" strike="noStrike" u="non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n Pipeline</a:t>
            </a:r>
          </a:p>
          <a:p>
            <a:pPr algn="l">
              <a:lnSpc>
                <a:spcPts val="3502"/>
              </a:lnSpc>
            </a:pPr>
          </a:p>
          <a:p>
            <a:pPr algn="l" marL="675135" indent="-337567" lvl="1">
              <a:lnSpc>
                <a:spcPts val="3502"/>
              </a:lnSpc>
              <a:buFont typeface="Arial"/>
              <a:buChar char="•"/>
            </a:pPr>
            <a:r>
              <a:rPr lang="en-US" b="true" sz="3127" spc="-56" strike="noStrike" u="non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Build a Retrieval-Augmented Generation (RAG) Knowledge Base</a:t>
            </a:r>
          </a:p>
          <a:p>
            <a:pPr algn="l">
              <a:lnSpc>
                <a:spcPts val="3502"/>
              </a:lnSpc>
            </a:pPr>
          </a:p>
          <a:p>
            <a:pPr algn="l" marL="675135" indent="-337567" lvl="1">
              <a:lnSpc>
                <a:spcPts val="3502"/>
              </a:lnSpc>
              <a:buFont typeface="Arial"/>
              <a:buChar char="•"/>
            </a:pPr>
            <a:r>
              <a:rPr lang="en-US" b="true" sz="3127" spc="-56" strike="noStrike" u="non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Develop the LLM Planning Agent with Safety Guardrails</a:t>
            </a:r>
          </a:p>
          <a:p>
            <a:pPr algn="l">
              <a:lnSpc>
                <a:spcPts val="3502"/>
              </a:lnSpc>
            </a:pPr>
          </a:p>
          <a:p>
            <a:pPr algn="l" marL="675135" indent="-337567" lvl="1">
              <a:lnSpc>
                <a:spcPts val="3502"/>
              </a:lnSpc>
              <a:buFont typeface="Arial"/>
              <a:buChar char="•"/>
            </a:pPr>
            <a:r>
              <a:rPr lang="en-US" b="true" sz="3127" spc="-56" strike="noStrike" u="non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Implement Closed-Loop Behavioral Adaptation</a:t>
            </a:r>
          </a:p>
          <a:p>
            <a:pPr algn="l">
              <a:lnSpc>
                <a:spcPts val="3502"/>
              </a:lnSpc>
            </a:pPr>
          </a:p>
          <a:p>
            <a:pPr algn="l" marL="675135" indent="-337567" lvl="1">
              <a:lnSpc>
                <a:spcPts val="3502"/>
              </a:lnSpc>
              <a:buFont typeface="Arial"/>
              <a:buChar char="•"/>
            </a:pPr>
            <a:r>
              <a:rPr lang="en-US" b="true" sz="3127" spc="-56" strike="noStrike" u="non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Pilot Study Evaluation (n=20)</a:t>
            </a:r>
          </a:p>
          <a:p>
            <a:pPr algn="l">
              <a:lnSpc>
                <a:spcPts val="3502"/>
              </a:lnSpc>
            </a:pPr>
          </a:p>
          <a:p>
            <a:pPr algn="l" marL="675135" indent="-337567" lvl="1">
              <a:lnSpc>
                <a:spcPts val="3502"/>
              </a:lnSpc>
              <a:buFont typeface="Arial"/>
              <a:buChar char="•"/>
            </a:pPr>
            <a:r>
              <a:rPr lang="en-US" b="true" sz="3127" spc="-56" strike="noStrike" u="non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Document Safety, Privacy, and Clinical Translation Pathways</a:t>
            </a:r>
          </a:p>
          <a:p>
            <a:pPr algn="l">
              <a:lnSpc>
                <a:spcPts val="3502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5410947" y="769896"/>
            <a:ext cx="2247079" cy="258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892"/>
              </a:lnSpc>
              <a:spcBef>
                <a:spcPct val="0"/>
              </a:spcBef>
            </a:pPr>
            <a:r>
              <a:rPr lang="en-US" sz="2150" spc="-3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05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512266"/>
            <a:ext cx="15671392" cy="1061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863"/>
              </a:lnSpc>
            </a:pPr>
            <a:r>
              <a:rPr lang="en-US" b="true" sz="7799" spc="-140">
                <a:solidFill>
                  <a:srgbClr val="C4E98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OBJECTIVES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3986984" y="6609281"/>
            <a:ext cx="5426216" cy="5298037"/>
            <a:chOff x="0" y="0"/>
            <a:chExt cx="1499136" cy="146372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99136" cy="1463724"/>
            </a:xfrm>
            <a:custGeom>
              <a:avLst/>
              <a:gdLst/>
              <a:ahLst/>
              <a:cxnLst/>
              <a:rect r="r" b="b" t="t" l="l"/>
              <a:pathLst>
                <a:path h="1463724" w="1499136">
                  <a:moveTo>
                    <a:pt x="0" y="0"/>
                  </a:moveTo>
                  <a:lnTo>
                    <a:pt x="1499136" y="0"/>
                  </a:lnTo>
                  <a:lnTo>
                    <a:pt x="1499136" y="1463724"/>
                  </a:lnTo>
                  <a:lnTo>
                    <a:pt x="0" y="1463724"/>
                  </a:lnTo>
                  <a:close/>
                </a:path>
              </a:pathLst>
            </a:custGeom>
            <a:solidFill>
              <a:srgbClr val="C4E989">
                <a:alpha val="68627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66675"/>
              <a:ext cx="1499136" cy="13970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2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4944918" y="5482888"/>
            <a:ext cx="5426216" cy="5298037"/>
            <a:chOff x="0" y="0"/>
            <a:chExt cx="1499136" cy="146372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99136" cy="1463724"/>
            </a:xfrm>
            <a:custGeom>
              <a:avLst/>
              <a:gdLst/>
              <a:ahLst/>
              <a:cxnLst/>
              <a:rect r="r" b="b" t="t" l="l"/>
              <a:pathLst>
                <a:path h="1463724" w="1499136">
                  <a:moveTo>
                    <a:pt x="0" y="0"/>
                  </a:moveTo>
                  <a:lnTo>
                    <a:pt x="1499136" y="0"/>
                  </a:lnTo>
                  <a:lnTo>
                    <a:pt x="1499136" y="1463724"/>
                  </a:lnTo>
                  <a:lnTo>
                    <a:pt x="0" y="1463724"/>
                  </a:lnTo>
                  <a:close/>
                </a:path>
              </a:pathLst>
            </a:custGeom>
            <a:solidFill>
              <a:srgbClr val="F1F6EF">
                <a:alpha val="55686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66675"/>
              <a:ext cx="1499136" cy="13970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2"/>
                </a:lnSpc>
              </a:pPr>
            </a:p>
          </p:txBody>
        </p:sp>
      </p:grp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>
  <p:cSld>
    <p:bg>
      <p:bgPr>
        <a:solidFill>
          <a:srgbClr val="CEC4B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436066"/>
            <a:ext cx="15671392" cy="756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40"/>
              </a:lnSpc>
            </a:pPr>
            <a:r>
              <a:rPr lang="en-US" b="true" sz="5500" spc="-99">
                <a:solidFill>
                  <a:srgbClr val="3D3A3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REFERENCES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4859" y="1425163"/>
            <a:ext cx="17690687" cy="8747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 spc="-44">
                <a:solidFill>
                  <a:srgbClr val="3D3A3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[1] S. Gupta, A. Sharma and R. Gupta, “A Survey on Machine Learning Techniques for Human Prakriti Classification,” IEEE Conference on Computational Intelligence and Knowledge Economy (ICKECS), 2019.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 spc="-44">
                <a:solidFill>
                  <a:srgbClr val="3D3A3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[2] S. Gupta, R. Gupta and A. Sharma, “Analysis and Synthesis of a Human Prakriti Identification System Based on Soft Computing Techniques,” Current Bioinformatics, vol. 15, no. 4, pp. 1–10, 2020.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 spc="-44">
                <a:solidFill>
                  <a:srgbClr val="3D3A3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[3] H. Zhang, Y. Li and X. Wang, “Hybrid Machine Learning for Personalized Ayurvedic Drug Recommendation via Prakriti Assessment,” IEEE Access, vol. 13, pp. 1–12, 2025.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 spc="-44">
                <a:solidFill>
                  <a:srgbClr val="3D3A3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[4] S. Pol, A. Malusare, T. Parchure, J. Narkhede and L. Panat, “AyuRAG: Ayurvedic Knowledge Integration with Retrieval-Augmented Lightweight Large Language Models,” Proceedings of the International Conference on Lifespan Innovation, Atlantis Press, 2024.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 spc="-44">
                <a:solidFill>
                  <a:srgbClr val="3D3A3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[5] R. Sharma and P. Kumar, “AI-Driven Multimodal Workflow Optimization for Personalized Patient-Centered Care,” World Journal of Advanced Engineering Technology and Sciences, vol. 15, no. 2, pp. 1-10, 2024.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 spc="-44">
                <a:solidFill>
                  <a:srgbClr val="3D3A3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[6] D. Anguita, A. Ghio, L. Oneto and X. Parra, “Human Activity Recognition with Smartphones Using Machine Learning Algorithms,” IEEE International Conference on Knowledge Engineering and Communication Systems, 2024.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 spc="-44">
                <a:solidFill>
                  <a:srgbClr val="3D3A3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[7] J. Patel, R. Singh and A. Kumar, “Conversational Health Agents: A Personalized Large Language Model-Powered Agent Framework,” Journal of the American Medical Informatics Association Open, vol. 8, no. 4, 2024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>
  <p:cSld>
    <p:bg>
      <p:bgPr>
        <a:solidFill>
          <a:srgbClr val="CEC4B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4859" y="1425163"/>
            <a:ext cx="17690687" cy="8909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 spc="-37">
                <a:solidFill>
                  <a:srgbClr val="3D3A3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[7] J. Patel, R. Singh and A. Kumar, “Conversational Health Agents: A Personalized Large Language Model-Powered Agent Framework,” Journal of the American Medical Informatics Association Open, vol. 8, no. 4, 2024.</a:t>
            </a:r>
          </a:p>
          <a:p>
            <a:pPr algn="just">
              <a:lnSpc>
                <a:spcPts val="2940"/>
              </a:lnSpc>
            </a:pPr>
          </a:p>
          <a:p>
            <a:pPr algn="just">
              <a:lnSpc>
                <a:spcPts val="2940"/>
              </a:lnSpc>
            </a:pPr>
            <a:r>
              <a:rPr lang="en-US" sz="2100" spc="-37">
                <a:solidFill>
                  <a:srgbClr val="3D3A3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[8] Y. Chen, Z. Liu and H. Wang, “Healthcare Agent: Eliciting the Power of Large Language Models for Medical Consultation,” Nature Digital Medicine, 2025.</a:t>
            </a:r>
          </a:p>
          <a:p>
            <a:pPr algn="just">
              <a:lnSpc>
                <a:spcPts val="2940"/>
              </a:lnSpc>
            </a:pPr>
          </a:p>
          <a:p>
            <a:pPr algn="just">
              <a:lnSpc>
                <a:spcPts val="2940"/>
              </a:lnSpc>
            </a:pPr>
            <a:r>
              <a:rPr lang="en-US" sz="2100" spc="-37">
                <a:solidFill>
                  <a:srgbClr val="3D3A3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[9] X. Li, Y. Zhang and J. Wang, “MedRAG: Enhancing Retrieval-Augmented Generation with Knowledge Graph-Elicited Reasoning for Healthcare Copilot,” arXiv preprint arXiv:2502.04413, 2025.</a:t>
            </a:r>
          </a:p>
          <a:p>
            <a:pPr algn="just">
              <a:lnSpc>
                <a:spcPts val="2940"/>
              </a:lnSpc>
            </a:pPr>
          </a:p>
          <a:p>
            <a:pPr algn="just">
              <a:lnSpc>
                <a:spcPts val="2940"/>
              </a:lnSpc>
            </a:pPr>
            <a:r>
              <a:rPr lang="en-US" sz="2100" spc="-37">
                <a:solidFill>
                  <a:srgbClr val="3D3A3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[10] J. Lin, K. Zhou and Y. Zhang, “Large Language Models for Recommendation Systems: A Survey,” arXiv preprint arXiv:2305.19860, 2023.</a:t>
            </a:r>
          </a:p>
          <a:p>
            <a:pPr algn="just">
              <a:lnSpc>
                <a:spcPts val="2940"/>
              </a:lnSpc>
            </a:pPr>
          </a:p>
          <a:p>
            <a:pPr algn="just">
              <a:lnSpc>
                <a:spcPts val="2940"/>
              </a:lnSpc>
            </a:pPr>
            <a:r>
              <a:rPr lang="en-US" sz="2100" spc="-37">
                <a:solidFill>
                  <a:srgbClr val="3D3A3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[11] G. Adomavicius and A. Tuzhilin, “Context-Aware Recommender Systems: A Review and Future Challenges,” Information Processing &amp; Management, vol. 59, no. 5, 2022.</a:t>
            </a:r>
          </a:p>
          <a:p>
            <a:pPr algn="just">
              <a:lnSpc>
                <a:spcPts val="2940"/>
              </a:lnSpc>
            </a:pPr>
          </a:p>
          <a:p>
            <a:pPr algn="just">
              <a:lnSpc>
                <a:spcPts val="2940"/>
              </a:lnSpc>
            </a:pPr>
            <a:r>
              <a:rPr lang="en-US" sz="2100" spc="-37">
                <a:solidFill>
                  <a:srgbClr val="3D3A3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[12] M. Chen, Y. Zhang and P. Wang, “Deep Learning Based Health Recommender Systems: A Systematic Review,” Journal of Biomedical Informatics, vol. 140, 2023.</a:t>
            </a:r>
          </a:p>
          <a:p>
            <a:pPr algn="just">
              <a:lnSpc>
                <a:spcPts val="2940"/>
              </a:lnSpc>
            </a:pPr>
          </a:p>
          <a:p>
            <a:pPr algn="just">
              <a:lnSpc>
                <a:spcPts val="2940"/>
              </a:lnSpc>
            </a:pPr>
            <a:r>
              <a:rPr lang="en-US" sz="2100" spc="-37">
                <a:solidFill>
                  <a:srgbClr val="3D3A3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[13] H. Zhao, L. Liu and Y. Yang, “Reinforcement Learning for Recommendation Systems: A Survey,” ACM Computing Surveys, vol. 55, no. 6, 2022.</a:t>
            </a:r>
          </a:p>
          <a:p>
            <a:pPr algn="just">
              <a:lnSpc>
                <a:spcPts val="2940"/>
              </a:lnSpc>
            </a:pPr>
          </a:p>
          <a:p>
            <a:pPr algn="just">
              <a:lnSpc>
                <a:spcPts val="2940"/>
              </a:lnSpc>
            </a:pPr>
            <a:r>
              <a:rPr lang="en-US" sz="2100" spc="-37">
                <a:solidFill>
                  <a:srgbClr val="3D3A3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[14] C. Peng, X. Yang, A. Chen et al., “A Study of Generative Large Language Model for Medical Research and Healthcare (GatorTronGPT),” npj Digital Medicine, vol. 6, no. 1, 2023. </a:t>
            </a:r>
          </a:p>
          <a:p>
            <a:pPr algn="just">
              <a:lnSpc>
                <a:spcPts val="2940"/>
              </a:lnSpc>
            </a:pPr>
          </a:p>
          <a:p>
            <a:pPr algn="just">
              <a:lnSpc>
                <a:spcPts val="2940"/>
              </a:lnSpc>
            </a:pPr>
            <a:r>
              <a:rPr lang="en-US" sz="2100" spc="-37">
                <a:solidFill>
                  <a:srgbClr val="3D3A3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[15] J. Smith, M. Brown and A. Taylor, “Arkangel AI: A Conversational Agent for Evidence-Based Medical Question Answering,” Information-Based Medicine Journal, 2025.</a:t>
            </a:r>
          </a:p>
          <a:p>
            <a:pPr algn="just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436066"/>
            <a:ext cx="15671392" cy="756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40"/>
              </a:lnSpc>
            </a:pPr>
            <a:r>
              <a:rPr lang="en-US" b="true" sz="5500" spc="-99">
                <a:solidFill>
                  <a:srgbClr val="3D3A3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REFERENCES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DAHEAXRpLYU</dc:identifier>
  <dcterms:modified xsi:type="dcterms:W3CDTF">2011-08-01T06:04:30Z</dcterms:modified>
  <cp:revision>1</cp:revision>
  <dc:title>Green and Gray Minimalist Medical Presentation</dc:title>
</cp:coreProperties>
</file>